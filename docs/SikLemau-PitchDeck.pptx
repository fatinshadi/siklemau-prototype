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08419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name: SikLemau is Sarawak Malay for not weak.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Seniors living alone can go unnoticed. Malaysia is ageing; add a source if you have one.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Pak Cik Ahmad, 72.</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acts and escalates, not just answers.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MyNutriDiari 2 and generic health chatbots.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Prototype simulates the flow with synthetic data. Production is a Telegram bot with an AI agent.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Targets are proposed measures, not results.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on false alarms, privacy and WhatsApp.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Targets are proposals to be agreed.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85 words.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Synthetic data. Prototype simulates the flow.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2E"/>
        </a:solidFill>
        <a:effectLst/>
      </p:bgPr>
    </p:bg>
    <p:spTree>
      <p:nvGrpSpPr>
        <p:cNvPr id="1" name=""/>
        <p:cNvGrpSpPr/>
        <p:nvPr/>
      </p:nvGrpSpPr>
      <p:grpSpPr>
        <a:xfrm>
          <a:off x="0" y="0"/>
          <a:ext cx="0" cy="0"/>
          <a:chOff x="0" y="0"/>
          <a:chExt cx="0" cy="0"/>
        </a:xfrm>
      </p:grpSpPr>
      <p:sp>
        <p:nvSpPr>
          <p:cNvPr id="3" name="Text 0"/>
          <p:cNvSpPr txBox="1"/>
          <p:nvPr/>
        </p:nvSpPr>
        <p:spPr>
          <a:xfrm>
            <a:off x="548640" y="169817"/>
            <a:ext cx="8046720" cy="82296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SikLemau</a:t>
            </a:r>
            <a:endParaRPr lang="en-US" sz="4800" dirty="0"/>
          </a:p>
        </p:txBody>
      </p:sp>
      <p:sp>
        <p:nvSpPr>
          <p:cNvPr id="4" name="Text 1"/>
          <p:cNvSpPr txBox="1"/>
          <p:nvPr/>
        </p:nvSpPr>
        <p:spPr>
          <a:xfrm>
            <a:off x="548640" y="992777"/>
            <a:ext cx="8046720" cy="457200"/>
          </a:xfrm>
          <a:prstGeom prst="rect">
            <a:avLst/>
          </a:prstGeom>
          <a:noFill/>
          <a:ln/>
        </p:spPr>
        <p:txBody>
          <a:bodyPr wrap="square" lIns="0" tIns="0" rIns="0" bIns="0" rtlCol="0" anchor="ctr"/>
          <a:lstStyle/>
          <a:p>
            <a:pPr marL="0" indent="0">
              <a:buNone/>
            </a:pPr>
            <a:r>
              <a:rPr lang="en-US" sz="1800" i="1" dirty="0">
                <a:solidFill>
                  <a:srgbClr val="8FDCB6"/>
                </a:solidFill>
                <a:latin typeface="Calibri" pitchFamily="34" charset="0"/>
                <a:ea typeface="Calibri" pitchFamily="34" charset="-122"/>
                <a:cs typeface="Calibri" pitchFamily="34" charset="-120"/>
              </a:rPr>
              <a:t>Sik </a:t>
            </a:r>
            <a:r>
              <a:rPr lang="en-US" sz="1800" i="1" dirty="0" err="1">
                <a:solidFill>
                  <a:srgbClr val="8FDCB6"/>
                </a:solidFill>
                <a:latin typeface="Calibri" pitchFamily="34" charset="0"/>
                <a:ea typeface="Calibri" pitchFamily="34" charset="-122"/>
                <a:cs typeface="Calibri" pitchFamily="34" charset="-120"/>
              </a:rPr>
              <a:t>lemau</a:t>
            </a:r>
            <a:r>
              <a:rPr lang="en-US" sz="1800" i="1" dirty="0">
                <a:solidFill>
                  <a:srgbClr val="8FDCB6"/>
                </a:solidFill>
                <a:latin typeface="Calibri" pitchFamily="34" charset="0"/>
                <a:ea typeface="Calibri" pitchFamily="34" charset="-122"/>
                <a:cs typeface="Calibri" pitchFamily="34" charset="-120"/>
              </a:rPr>
              <a:t>, </a:t>
            </a:r>
            <a:r>
              <a:rPr lang="en-US" sz="1800" i="1" dirty="0" err="1">
                <a:solidFill>
                  <a:srgbClr val="8FDCB6"/>
                </a:solidFill>
                <a:latin typeface="Calibri" pitchFamily="34" charset="0"/>
                <a:ea typeface="Calibri" pitchFamily="34" charset="-122"/>
                <a:cs typeface="Calibri" pitchFamily="34" charset="-120"/>
              </a:rPr>
              <a:t>sik</a:t>
            </a:r>
            <a:r>
              <a:rPr lang="en-US" sz="1800" i="1" dirty="0">
                <a:solidFill>
                  <a:srgbClr val="8FDCB6"/>
                </a:solidFill>
                <a:latin typeface="Calibri" pitchFamily="34" charset="0"/>
                <a:ea typeface="Calibri" pitchFamily="34" charset="-122"/>
                <a:cs typeface="Calibri" pitchFamily="34" charset="-120"/>
              </a:rPr>
              <a:t> </a:t>
            </a:r>
            <a:r>
              <a:rPr lang="en-US" sz="1800" i="1" dirty="0" err="1">
                <a:solidFill>
                  <a:srgbClr val="8FDCB6"/>
                </a:solidFill>
                <a:latin typeface="Calibri" pitchFamily="34" charset="0"/>
                <a:ea typeface="Calibri" pitchFamily="34" charset="-122"/>
                <a:cs typeface="Calibri" pitchFamily="34" charset="-120"/>
              </a:rPr>
              <a:t>mau</a:t>
            </a:r>
            <a:r>
              <a:rPr lang="en-US" sz="1800" i="1" dirty="0">
                <a:solidFill>
                  <a:srgbClr val="8FDCB6"/>
                </a:solidFill>
                <a:latin typeface="Calibri" pitchFamily="34" charset="0"/>
                <a:ea typeface="Calibri" pitchFamily="34" charset="-122"/>
                <a:cs typeface="Calibri" pitchFamily="34" charset="-120"/>
              </a:rPr>
              <a:t> </a:t>
            </a:r>
            <a:r>
              <a:rPr lang="en-US" sz="1800" i="1" dirty="0" err="1">
                <a:solidFill>
                  <a:srgbClr val="8FDCB6"/>
                </a:solidFill>
                <a:latin typeface="Calibri" pitchFamily="34" charset="0"/>
                <a:ea typeface="Calibri" pitchFamily="34" charset="-122"/>
                <a:cs typeface="Calibri" pitchFamily="34" charset="-120"/>
              </a:rPr>
              <a:t>lemau</a:t>
            </a:r>
            <a:r>
              <a:rPr lang="en-US" sz="1800" i="1" dirty="0">
                <a:solidFill>
                  <a:srgbClr val="8FDCB6"/>
                </a:solidFill>
                <a:latin typeface="Calibri" pitchFamily="34" charset="0"/>
                <a:ea typeface="Calibri" pitchFamily="34" charset="-122"/>
                <a:cs typeface="Calibri" pitchFamily="34" charset="-120"/>
              </a:rPr>
              <a:t>. Township health agent prototype.</a:t>
            </a:r>
            <a:endParaRPr lang="en-US" sz="1800" dirty="0"/>
          </a:p>
        </p:txBody>
      </p:sp>
      <p:sp>
        <p:nvSpPr>
          <p:cNvPr id="5" name="Text 2"/>
          <p:cNvSpPr txBox="1"/>
          <p:nvPr/>
        </p:nvSpPr>
        <p:spPr>
          <a:xfrm>
            <a:off x="548640" y="1724296"/>
            <a:ext cx="8046720" cy="2338252"/>
          </a:xfrm>
          <a:prstGeom prst="rect">
            <a:avLst/>
          </a:prstGeom>
          <a:noFill/>
          <a:ln/>
        </p:spPr>
        <p:txBody>
          <a:bodyPr wrap="square" lIns="0" tIns="0" rIns="0" bIns="0" rtlCol="0" anchor="ctr"/>
          <a:lstStyle/>
          <a:p>
            <a:pPr marL="0" indent="0">
              <a:spcAft>
                <a:spcPts val="600"/>
              </a:spcAft>
              <a:buNone/>
            </a:pPr>
            <a:r>
              <a:rPr lang="en-US" sz="1600" dirty="0">
                <a:solidFill>
                  <a:srgbClr val="FFFFFF"/>
                </a:solidFill>
                <a:latin typeface="Calibri" pitchFamily="34" charset="0"/>
                <a:ea typeface="Calibri" pitchFamily="34" charset="-122"/>
                <a:cs typeface="Calibri" pitchFamily="34" charset="-120"/>
              </a:rPr>
              <a:t>Team name: Alpha-5</a:t>
            </a:r>
            <a:endParaRPr lang="en-US" sz="1600" dirty="0"/>
          </a:p>
          <a:p>
            <a:pPr marL="0" indent="0">
              <a:spcAft>
                <a:spcPts val="600"/>
              </a:spcAft>
              <a:buNone/>
            </a:pPr>
            <a:r>
              <a:rPr lang="en-US" sz="1600" dirty="0">
                <a:solidFill>
                  <a:srgbClr val="FFFFFF"/>
                </a:solidFill>
                <a:latin typeface="Calibri" pitchFamily="34" charset="0"/>
                <a:ea typeface="Calibri" pitchFamily="34" charset="-122"/>
                <a:cs typeface="Calibri" pitchFamily="34" charset="-120"/>
              </a:rPr>
              <a:t>Team leader: Nur Fatin binti Shadi</a:t>
            </a:r>
            <a:endParaRPr lang="en-US" sz="1600" dirty="0"/>
          </a:p>
          <a:p>
            <a:pPr marL="0" indent="0">
              <a:spcAft>
                <a:spcPts val="600"/>
              </a:spcAft>
              <a:buNone/>
            </a:pPr>
            <a:r>
              <a:rPr lang="en-US" sz="1600" dirty="0">
                <a:solidFill>
                  <a:srgbClr val="FFFFFF"/>
                </a:solidFill>
                <a:latin typeface="Calibri" pitchFamily="34" charset="0"/>
                <a:ea typeface="Calibri" pitchFamily="34" charset="-122"/>
                <a:cs typeface="Calibri" pitchFamily="34" charset="-120"/>
              </a:rPr>
              <a:t>University: Universiti Malaysia Sarawak (UNIMAS)</a:t>
            </a:r>
            <a:endParaRPr lang="en-US" sz="1600" dirty="0"/>
          </a:p>
          <a:p>
            <a:pPr marL="0" indent="0">
              <a:spcAft>
                <a:spcPts val="600"/>
              </a:spcAft>
              <a:buNone/>
            </a:pPr>
            <a:r>
              <a:rPr lang="en-US" sz="1600" dirty="0">
                <a:solidFill>
                  <a:srgbClr val="FFFFFF"/>
                </a:solidFill>
                <a:latin typeface="Calibri" pitchFamily="34" charset="0"/>
                <a:ea typeface="Calibri" pitchFamily="34" charset="-122"/>
                <a:cs typeface="Calibri" pitchFamily="34" charset="-120"/>
              </a:rPr>
              <a:t>Members: </a:t>
            </a:r>
          </a:p>
          <a:p>
            <a:pPr marL="342900" indent="-342900">
              <a:spcAft>
                <a:spcPts val="600"/>
              </a:spcAft>
              <a:buAutoNum type="arabicPeriod"/>
            </a:pPr>
            <a:r>
              <a:rPr lang="en-US" sz="1600" dirty="0">
                <a:solidFill>
                  <a:srgbClr val="FFFFFF"/>
                </a:solidFill>
                <a:latin typeface="Calibri" pitchFamily="34" charset="0"/>
                <a:ea typeface="Calibri" pitchFamily="34" charset="-122"/>
                <a:cs typeface="Calibri" pitchFamily="34" charset="-120"/>
              </a:rPr>
              <a:t>Charmaine Zafira Toh binti Mohammad Christopher Toh</a:t>
            </a:r>
          </a:p>
          <a:p>
            <a:pPr marL="342900" indent="-342900">
              <a:spcAft>
                <a:spcPts val="600"/>
              </a:spcAft>
              <a:buAutoNum type="arabicPeriod"/>
            </a:pPr>
            <a:r>
              <a:rPr lang="en-US" sz="1600" dirty="0" err="1">
                <a:solidFill>
                  <a:srgbClr val="FFFFFF"/>
                </a:solidFill>
                <a:latin typeface="Calibri" pitchFamily="34" charset="0"/>
                <a:ea typeface="Calibri" pitchFamily="34" charset="-122"/>
                <a:cs typeface="Calibri" pitchFamily="34" charset="-120"/>
              </a:rPr>
              <a:t>Shaneryn</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Shanon</a:t>
            </a:r>
            <a:r>
              <a:rPr lang="en-US" sz="1600" dirty="0">
                <a:solidFill>
                  <a:srgbClr val="FFFFFF"/>
                </a:solidFill>
                <a:latin typeface="Calibri" pitchFamily="34" charset="0"/>
                <a:ea typeface="Calibri" pitchFamily="34" charset="-122"/>
                <a:cs typeface="Calibri" pitchFamily="34" charset="-120"/>
              </a:rPr>
              <a:t> Samson</a:t>
            </a:r>
          </a:p>
          <a:p>
            <a:pPr marL="342900" indent="-342900">
              <a:spcAft>
                <a:spcPts val="600"/>
              </a:spcAft>
              <a:buAutoNum type="arabicPeriod"/>
            </a:pPr>
            <a:r>
              <a:rPr lang="en-US" sz="1600" dirty="0">
                <a:solidFill>
                  <a:srgbClr val="FFFFFF"/>
                </a:solidFill>
                <a:latin typeface="Calibri" pitchFamily="34" charset="0"/>
                <a:ea typeface="Calibri" pitchFamily="34" charset="-122"/>
                <a:cs typeface="Calibri" pitchFamily="34" charset="-120"/>
              </a:rPr>
              <a:t>Jawa Jubin Denis</a:t>
            </a:r>
          </a:p>
          <a:p>
            <a:pPr marL="342900" indent="-342900">
              <a:spcAft>
                <a:spcPts val="600"/>
              </a:spcAft>
              <a:buAutoNum type="arabicPeriod"/>
            </a:pPr>
            <a:r>
              <a:rPr lang="en-US" sz="1600" dirty="0">
                <a:solidFill>
                  <a:srgbClr val="FFFFFF"/>
                </a:solidFill>
                <a:latin typeface="Calibri" pitchFamily="34" charset="0"/>
                <a:ea typeface="Calibri" pitchFamily="34" charset="-122"/>
                <a:cs typeface="Calibri" pitchFamily="34" charset="-120"/>
              </a:rPr>
              <a:t>Melanie Bernida </a:t>
            </a:r>
            <a:r>
              <a:rPr lang="en-US" sz="1600" dirty="0" err="1">
                <a:solidFill>
                  <a:srgbClr val="FFFFFF"/>
                </a:solidFill>
                <a:latin typeface="Calibri" pitchFamily="34" charset="0"/>
                <a:ea typeface="Calibri" pitchFamily="34" charset="-122"/>
                <a:cs typeface="Calibri" pitchFamily="34" charset="-120"/>
              </a:rPr>
              <a:t>anak</a:t>
            </a:r>
            <a:r>
              <a:rPr lang="en-US" sz="1600" dirty="0">
                <a:solidFill>
                  <a:srgbClr val="FFFFFF"/>
                </a:solidFill>
                <a:latin typeface="Calibri" pitchFamily="34" charset="0"/>
                <a:ea typeface="Calibri" pitchFamily="34" charset="-122"/>
                <a:cs typeface="Calibri" pitchFamily="34" charset="-120"/>
              </a:rPr>
              <a:t> Bernard</a:t>
            </a:r>
            <a:endParaRPr lang="en-US" sz="1600" dirty="0"/>
          </a:p>
          <a:p>
            <a:pPr marL="0" indent="0">
              <a:spcAft>
                <a:spcPts val="600"/>
              </a:spcAft>
              <a:buNone/>
            </a:pPr>
            <a:r>
              <a:rPr lang="en-US" sz="1600" dirty="0">
                <a:solidFill>
                  <a:srgbClr val="FFFFFF"/>
                </a:solidFill>
                <a:latin typeface="Calibri" pitchFamily="34" charset="0"/>
                <a:ea typeface="Calibri" pitchFamily="34" charset="-122"/>
                <a:cs typeface="Calibri" pitchFamily="34" charset="-120"/>
              </a:rPr>
              <a:t>Email: 117757@siswa.unimas.my   Contact: 013-699 6851</a:t>
            </a:r>
            <a:endParaRPr lang="en-US" sz="1600" dirty="0"/>
          </a:p>
        </p:txBody>
      </p:sp>
      <p:sp>
        <p:nvSpPr>
          <p:cNvPr id="6" name="Text 3"/>
          <p:cNvSpPr txBox="1"/>
          <p:nvPr/>
        </p:nvSpPr>
        <p:spPr>
          <a:xfrm>
            <a:off x="548640" y="4297680"/>
            <a:ext cx="8046720" cy="365760"/>
          </a:xfrm>
          <a:prstGeom prst="rect">
            <a:avLst/>
          </a:prstGeom>
          <a:noFill/>
          <a:ln/>
        </p:spPr>
        <p:txBody>
          <a:bodyPr wrap="square" lIns="0" tIns="0" rIns="0" bIns="0" rtlCol="0" anchor="ctr"/>
          <a:lstStyle/>
          <a:p>
            <a:pPr marL="0" indent="0">
              <a:buNone/>
            </a:pPr>
            <a:r>
              <a:rPr lang="en-US" sz="1300" dirty="0">
                <a:solidFill>
                  <a:srgbClr val="BFD8CE"/>
                </a:solidFill>
                <a:latin typeface="Calibri" pitchFamily="34" charset="0"/>
                <a:ea typeface="Calibri" pitchFamily="34" charset="-122"/>
                <a:cs typeface="Calibri" pitchFamily="34" charset="-120"/>
              </a:rPr>
              <a:t>Sime Darby Property University Hackathon 2026 · People track</a:t>
            </a:r>
            <a:endParaRPr lang="en-US" sz="1300" dirty="0"/>
          </a:p>
        </p:txBody>
      </p:sp>
      <p:pic>
        <p:nvPicPr>
          <p:cNvPr id="2" name="Picture 1">
            <a:extLst>
              <a:ext uri="{FF2B5EF4-FFF2-40B4-BE49-F238E27FC236}">
                <a16:creationId xmlns:a16="http://schemas.microsoft.com/office/drawing/2014/main" id="{71B5C7AB-5945-652D-6767-D59E2E89859F}"/>
              </a:ext>
            </a:extLst>
          </p:cNvPr>
          <p:cNvPicPr>
            <a:picLocks noChangeAspect="1"/>
          </p:cNvPicPr>
          <p:nvPr/>
        </p:nvPicPr>
        <p:blipFill>
          <a:blip r:embed="rId3"/>
          <a:stretch>
            <a:fillRect/>
          </a:stretch>
        </p:blipFill>
        <p:spPr>
          <a:xfrm>
            <a:off x="7595235" y="219347"/>
            <a:ext cx="1000125" cy="7239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7"/>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0B3D2E"/>
                </a:solidFill>
                <a:latin typeface="Calibri" pitchFamily="34" charset="0"/>
                <a:ea typeface="Calibri" pitchFamily="34" charset="-122"/>
                <a:cs typeface="Calibri" pitchFamily="34" charset="-120"/>
              </a:rPr>
              <a:t>1. The Problem</a:t>
            </a:r>
            <a:endParaRPr lang="en-US" sz="2800" dirty="0"/>
          </a:p>
        </p:txBody>
      </p:sp>
      <p:sp>
        <p:nvSpPr>
          <p:cNvPr id="3" name="Text 1"/>
          <p:cNvSpPr txBox="1"/>
          <p:nvPr/>
        </p:nvSpPr>
        <p:spPr>
          <a:xfrm>
            <a:off x="457200" y="777240"/>
            <a:ext cx="8229600" cy="320040"/>
          </a:xfrm>
          <a:prstGeom prst="rect">
            <a:avLst/>
          </a:prstGeom>
          <a:noFill/>
          <a:ln/>
        </p:spPr>
        <p:txBody>
          <a:bodyPr wrap="square" lIns="0" tIns="0" rIns="0" bIns="0" rtlCol="0" anchor="ctr"/>
          <a:lstStyle/>
          <a:p>
            <a:pPr marL="0" indent="0">
              <a:buNone/>
            </a:pPr>
            <a:r>
              <a:rPr lang="en-US" sz="1400" i="1" dirty="0">
                <a:solidFill>
                  <a:srgbClr val="5B6B64"/>
                </a:solidFill>
                <a:latin typeface="Calibri" pitchFamily="34" charset="0"/>
                <a:ea typeface="Calibri" pitchFamily="34" charset="-122"/>
                <a:cs typeface="Calibri" pitchFamily="34" charset="-120"/>
              </a:rPr>
              <a:t>Who is affected and why it matters</a:t>
            </a:r>
            <a:endParaRPr lang="en-US" sz="1400" dirty="0"/>
          </a:p>
        </p:txBody>
      </p:sp>
      <p:sp>
        <p:nvSpPr>
          <p:cNvPr id="5" name="Text 2"/>
          <p:cNvSpPr txBox="1"/>
          <p:nvPr/>
        </p:nvSpPr>
        <p:spPr>
          <a:xfrm>
            <a:off x="457200" y="4828032"/>
            <a:ext cx="2743200" cy="201168"/>
          </a:xfrm>
          <a:prstGeom prst="rect">
            <a:avLst/>
          </a:prstGeom>
          <a:noFill/>
          <a:ln/>
        </p:spPr>
        <p:txBody>
          <a:bodyPr wrap="square" lIns="0" tIns="0" rIns="0" bIns="0" rtlCol="0" anchor="ctr"/>
          <a:lstStyle/>
          <a:p>
            <a:pPr marL="0" indent="0">
              <a:buNone/>
            </a:pPr>
            <a:r>
              <a:rPr lang="en-US" sz="1000" dirty="0">
                <a:solidFill>
                  <a:srgbClr val="5B6B64"/>
                </a:solidFill>
                <a:latin typeface="Calibri" pitchFamily="34" charset="0"/>
                <a:ea typeface="Calibri" pitchFamily="34" charset="-122"/>
                <a:cs typeface="Calibri" pitchFamily="34" charset="-120"/>
              </a:rPr>
              <a:t>SikLemau</a:t>
            </a:r>
            <a:endParaRPr lang="en-US" sz="1000" dirty="0"/>
          </a:p>
        </p:txBody>
      </p:sp>
      <p:sp>
        <p:nvSpPr>
          <p:cNvPr id="6" name="Shape 3"/>
          <p:cNvSpPr/>
          <p:nvPr/>
        </p:nvSpPr>
        <p:spPr>
          <a:xfrm>
            <a:off x="457200" y="1280160"/>
            <a:ext cx="2606040" cy="2560320"/>
          </a:xfrm>
          <a:prstGeom prst="roundRect">
            <a:avLst>
              <a:gd name="adj" fmla="val 3571"/>
            </a:avLst>
          </a:prstGeom>
          <a:solidFill>
            <a:srgbClr val="FFFFFF"/>
          </a:solidFill>
          <a:ln w="12700">
            <a:solidFill>
              <a:srgbClr val="DBE3DF"/>
            </a:solidFill>
            <a:prstDash val="solid"/>
          </a:ln>
        </p:spPr>
        <p:txBody>
          <a:bodyPr/>
          <a:lstStyle/>
          <a:p>
            <a:endParaRPr lang="en-MY"/>
          </a:p>
        </p:txBody>
      </p:sp>
      <p:sp>
        <p:nvSpPr>
          <p:cNvPr id="7" name="Shape 4"/>
          <p:cNvSpPr/>
          <p:nvPr/>
        </p:nvSpPr>
        <p:spPr>
          <a:xfrm>
            <a:off x="594360" y="1417320"/>
            <a:ext cx="73152" cy="320040"/>
          </a:xfrm>
          <a:prstGeom prst="rect">
            <a:avLst/>
          </a:prstGeom>
          <a:solidFill>
            <a:srgbClr val="0F8A5F"/>
          </a:solidFill>
          <a:ln w="12700">
            <a:solidFill>
              <a:srgbClr val="0F8A5F"/>
            </a:solidFill>
            <a:prstDash val="solid"/>
          </a:ln>
        </p:spPr>
        <p:txBody>
          <a:bodyPr/>
          <a:lstStyle/>
          <a:p>
            <a:endParaRPr lang="en-MY"/>
          </a:p>
        </p:txBody>
      </p:sp>
      <p:sp>
        <p:nvSpPr>
          <p:cNvPr id="8" name="Text 5"/>
          <p:cNvSpPr txBox="1"/>
          <p:nvPr/>
        </p:nvSpPr>
        <p:spPr>
          <a:xfrm>
            <a:off x="731520" y="1371600"/>
            <a:ext cx="2194560" cy="411480"/>
          </a:xfrm>
          <a:prstGeom prst="rect">
            <a:avLst/>
          </a:prstGeom>
          <a:noFill/>
          <a:ln/>
        </p:spPr>
        <p:txBody>
          <a:bodyPr wrap="square" lIns="0" tIns="0" rIns="0" bIns="0" rtlCol="0" anchor="ctr"/>
          <a:lstStyle/>
          <a:p>
            <a:pPr marL="0" indent="0">
              <a:buNone/>
            </a:pPr>
            <a:r>
              <a:rPr lang="en-US" sz="1500" b="1" dirty="0">
                <a:solidFill>
                  <a:srgbClr val="0B3D2E"/>
                </a:solidFill>
                <a:latin typeface="Calibri" pitchFamily="34" charset="0"/>
                <a:ea typeface="Calibri" pitchFamily="34" charset="-122"/>
                <a:cs typeface="Calibri" pitchFamily="34" charset="-120"/>
              </a:rPr>
              <a:t>Unnoticed in a crisis</a:t>
            </a:r>
            <a:endParaRPr lang="en-US" sz="1500" dirty="0"/>
          </a:p>
        </p:txBody>
      </p:sp>
      <p:sp>
        <p:nvSpPr>
          <p:cNvPr id="9" name="Text 6"/>
          <p:cNvSpPr txBox="1"/>
          <p:nvPr/>
        </p:nvSpPr>
        <p:spPr>
          <a:xfrm>
            <a:off x="640080" y="1874520"/>
            <a:ext cx="2240280" cy="1874520"/>
          </a:xfrm>
          <a:prstGeom prst="rect">
            <a:avLst/>
          </a:prstGeom>
          <a:noFill/>
          <a:ln/>
        </p:spPr>
        <p:txBody>
          <a:bodyPr wrap="square" lIns="0" tIns="0" rIns="0" bIns="0" rtlCol="0" anchor="t"/>
          <a:lstStyle/>
          <a:p>
            <a:pPr marL="0" indent="0">
              <a:buNone/>
            </a:pPr>
            <a:r>
              <a:rPr lang="en-US" sz="1250" dirty="0">
                <a:solidFill>
                  <a:srgbClr val="14211C"/>
                </a:solidFill>
                <a:latin typeface="Calibri" pitchFamily="34" charset="0"/>
                <a:ea typeface="Calibri" pitchFamily="34" charset="-122"/>
                <a:cs typeface="Calibri" pitchFamily="34" charset="-120"/>
              </a:rPr>
              <a:t>Residents who live alone, especially seniors, can go unnoticed for hours after a fall or health event.</a:t>
            </a:r>
            <a:endParaRPr lang="en-US" sz="1250" dirty="0"/>
          </a:p>
        </p:txBody>
      </p:sp>
      <p:sp>
        <p:nvSpPr>
          <p:cNvPr id="10" name="Shape 7"/>
          <p:cNvSpPr/>
          <p:nvPr/>
        </p:nvSpPr>
        <p:spPr>
          <a:xfrm>
            <a:off x="3268980" y="1280160"/>
            <a:ext cx="2606040" cy="2560320"/>
          </a:xfrm>
          <a:prstGeom prst="roundRect">
            <a:avLst>
              <a:gd name="adj" fmla="val 3571"/>
            </a:avLst>
          </a:prstGeom>
          <a:solidFill>
            <a:srgbClr val="FFFFFF"/>
          </a:solidFill>
          <a:ln w="12700">
            <a:solidFill>
              <a:srgbClr val="DBE3DF"/>
            </a:solidFill>
            <a:prstDash val="solid"/>
          </a:ln>
        </p:spPr>
        <p:txBody>
          <a:bodyPr/>
          <a:lstStyle/>
          <a:p>
            <a:endParaRPr lang="en-MY"/>
          </a:p>
        </p:txBody>
      </p:sp>
      <p:sp>
        <p:nvSpPr>
          <p:cNvPr id="11" name="Shape 8"/>
          <p:cNvSpPr/>
          <p:nvPr/>
        </p:nvSpPr>
        <p:spPr>
          <a:xfrm>
            <a:off x="3406140" y="1417320"/>
            <a:ext cx="73152" cy="320040"/>
          </a:xfrm>
          <a:prstGeom prst="rect">
            <a:avLst/>
          </a:prstGeom>
          <a:solidFill>
            <a:srgbClr val="0F8A5F"/>
          </a:solidFill>
          <a:ln w="12700">
            <a:solidFill>
              <a:srgbClr val="0F8A5F"/>
            </a:solidFill>
            <a:prstDash val="solid"/>
          </a:ln>
        </p:spPr>
        <p:txBody>
          <a:bodyPr/>
          <a:lstStyle/>
          <a:p>
            <a:endParaRPr lang="en-MY"/>
          </a:p>
        </p:txBody>
      </p:sp>
      <p:sp>
        <p:nvSpPr>
          <p:cNvPr id="12" name="Text 9"/>
          <p:cNvSpPr txBox="1"/>
          <p:nvPr/>
        </p:nvSpPr>
        <p:spPr>
          <a:xfrm>
            <a:off x="3543300" y="1371600"/>
            <a:ext cx="2194560" cy="411480"/>
          </a:xfrm>
          <a:prstGeom prst="rect">
            <a:avLst/>
          </a:prstGeom>
          <a:noFill/>
          <a:ln/>
        </p:spPr>
        <p:txBody>
          <a:bodyPr wrap="square" lIns="0" tIns="0" rIns="0" bIns="0" rtlCol="0" anchor="ctr"/>
          <a:lstStyle/>
          <a:p>
            <a:pPr marL="0" indent="0">
              <a:buNone/>
            </a:pPr>
            <a:r>
              <a:rPr lang="en-US" sz="1500" b="1" dirty="0">
                <a:solidFill>
                  <a:srgbClr val="0B3D2E"/>
                </a:solidFill>
                <a:latin typeface="Calibri" pitchFamily="34" charset="0"/>
                <a:ea typeface="Calibri" pitchFamily="34" charset="-122"/>
                <a:cs typeface="Calibri" pitchFamily="34" charset="-120"/>
              </a:rPr>
              <a:t>Passive, individual apps</a:t>
            </a:r>
            <a:endParaRPr lang="en-US" sz="1500" dirty="0"/>
          </a:p>
        </p:txBody>
      </p:sp>
      <p:sp>
        <p:nvSpPr>
          <p:cNvPr id="13" name="Text 10"/>
          <p:cNvSpPr txBox="1"/>
          <p:nvPr/>
        </p:nvSpPr>
        <p:spPr>
          <a:xfrm>
            <a:off x="3451860" y="1874520"/>
            <a:ext cx="2240280" cy="1874520"/>
          </a:xfrm>
          <a:prstGeom prst="rect">
            <a:avLst/>
          </a:prstGeom>
          <a:noFill/>
          <a:ln/>
        </p:spPr>
        <p:txBody>
          <a:bodyPr wrap="square" lIns="0" tIns="0" rIns="0" bIns="0" rtlCol="0" anchor="t"/>
          <a:lstStyle/>
          <a:p>
            <a:pPr marL="0" indent="0">
              <a:buNone/>
            </a:pPr>
            <a:r>
              <a:rPr lang="en-US" sz="1250" dirty="0">
                <a:solidFill>
                  <a:srgbClr val="14211C"/>
                </a:solidFill>
                <a:latin typeface="Calibri" pitchFamily="34" charset="0"/>
                <a:ea typeface="Calibri" pitchFamily="34" charset="-122"/>
                <a:cs typeface="Calibri" pitchFamily="34" charset="-120"/>
              </a:rPr>
              <a:t>Health apps wait to be opened and ignore neighbours, parks, clinics and guardhouses.</a:t>
            </a:r>
            <a:endParaRPr lang="en-US" sz="1250" dirty="0"/>
          </a:p>
        </p:txBody>
      </p:sp>
      <p:sp>
        <p:nvSpPr>
          <p:cNvPr id="14" name="Shape 11"/>
          <p:cNvSpPr/>
          <p:nvPr/>
        </p:nvSpPr>
        <p:spPr>
          <a:xfrm>
            <a:off x="6080760" y="1280160"/>
            <a:ext cx="2606040" cy="2560320"/>
          </a:xfrm>
          <a:prstGeom prst="roundRect">
            <a:avLst>
              <a:gd name="adj" fmla="val 3571"/>
            </a:avLst>
          </a:prstGeom>
          <a:solidFill>
            <a:srgbClr val="FFFFFF"/>
          </a:solidFill>
          <a:ln w="12700">
            <a:solidFill>
              <a:srgbClr val="DBE3DF"/>
            </a:solidFill>
            <a:prstDash val="solid"/>
          </a:ln>
        </p:spPr>
        <p:txBody>
          <a:bodyPr/>
          <a:lstStyle/>
          <a:p>
            <a:endParaRPr lang="en-MY"/>
          </a:p>
        </p:txBody>
      </p:sp>
      <p:sp>
        <p:nvSpPr>
          <p:cNvPr id="15" name="Shape 12"/>
          <p:cNvSpPr/>
          <p:nvPr/>
        </p:nvSpPr>
        <p:spPr>
          <a:xfrm>
            <a:off x="6217920" y="1417320"/>
            <a:ext cx="73152" cy="320040"/>
          </a:xfrm>
          <a:prstGeom prst="rect">
            <a:avLst/>
          </a:prstGeom>
          <a:solidFill>
            <a:srgbClr val="0F8A5F"/>
          </a:solidFill>
          <a:ln w="12700">
            <a:solidFill>
              <a:srgbClr val="0F8A5F"/>
            </a:solidFill>
            <a:prstDash val="solid"/>
          </a:ln>
        </p:spPr>
        <p:txBody>
          <a:bodyPr/>
          <a:lstStyle/>
          <a:p>
            <a:endParaRPr lang="en-MY"/>
          </a:p>
        </p:txBody>
      </p:sp>
      <p:sp>
        <p:nvSpPr>
          <p:cNvPr id="16" name="Text 13"/>
          <p:cNvSpPr txBox="1"/>
          <p:nvPr/>
        </p:nvSpPr>
        <p:spPr>
          <a:xfrm>
            <a:off x="6355080" y="1371600"/>
            <a:ext cx="2194560" cy="411480"/>
          </a:xfrm>
          <a:prstGeom prst="rect">
            <a:avLst/>
          </a:prstGeom>
          <a:noFill/>
          <a:ln/>
        </p:spPr>
        <p:txBody>
          <a:bodyPr wrap="square" lIns="0" tIns="0" rIns="0" bIns="0" rtlCol="0" anchor="ctr"/>
          <a:lstStyle/>
          <a:p>
            <a:pPr marL="0" indent="0">
              <a:buNone/>
            </a:pPr>
            <a:r>
              <a:rPr lang="en-US" sz="1500" b="1" dirty="0">
                <a:solidFill>
                  <a:srgbClr val="0B3D2E"/>
                </a:solidFill>
                <a:latin typeface="Calibri" pitchFamily="34" charset="0"/>
                <a:ea typeface="Calibri" pitchFamily="34" charset="-122"/>
                <a:cs typeface="Calibri" pitchFamily="34" charset="-120"/>
              </a:rPr>
              <a:t>No township signal</a:t>
            </a:r>
            <a:endParaRPr lang="en-US" sz="1500" dirty="0"/>
          </a:p>
        </p:txBody>
      </p:sp>
      <p:sp>
        <p:nvSpPr>
          <p:cNvPr id="17" name="Text 14"/>
          <p:cNvSpPr txBox="1"/>
          <p:nvPr/>
        </p:nvSpPr>
        <p:spPr>
          <a:xfrm>
            <a:off x="6263640" y="1874520"/>
            <a:ext cx="2240280" cy="1874520"/>
          </a:xfrm>
          <a:prstGeom prst="rect">
            <a:avLst/>
          </a:prstGeom>
          <a:noFill/>
          <a:ln/>
        </p:spPr>
        <p:txBody>
          <a:bodyPr wrap="square" lIns="0" tIns="0" rIns="0" bIns="0" rtlCol="0" anchor="t"/>
          <a:lstStyle/>
          <a:p>
            <a:pPr marL="0" indent="0">
              <a:buNone/>
            </a:pPr>
            <a:r>
              <a:rPr lang="en-US" sz="1250" dirty="0">
                <a:solidFill>
                  <a:srgbClr val="14211C"/>
                </a:solidFill>
                <a:latin typeface="Calibri" pitchFamily="34" charset="0"/>
                <a:ea typeface="Calibri" pitchFamily="34" charset="-122"/>
                <a:cs typeface="Calibri" pitchFamily="34" charset="-120"/>
              </a:rPr>
              <a:t>Management cannot see who is isolated or where shade, lighting and benches are missing.</a:t>
            </a:r>
            <a:endParaRPr lang="en-US" sz="1250" dirty="0"/>
          </a:p>
        </p:txBody>
      </p:sp>
      <p:sp>
        <p:nvSpPr>
          <p:cNvPr id="18" name="Text 15"/>
          <p:cNvSpPr txBox="1"/>
          <p:nvPr/>
        </p:nvSpPr>
        <p:spPr>
          <a:xfrm>
            <a:off x="457200" y="4114800"/>
            <a:ext cx="8229600" cy="457200"/>
          </a:xfrm>
          <a:prstGeom prst="rect">
            <a:avLst/>
          </a:prstGeom>
          <a:noFill/>
          <a:ln/>
        </p:spPr>
        <p:txBody>
          <a:bodyPr wrap="square" lIns="0" tIns="0" rIns="0" bIns="0" rtlCol="0" anchor="ctr"/>
          <a:lstStyle/>
          <a:p>
            <a:pPr marL="0" indent="0">
              <a:buNone/>
            </a:pPr>
            <a:r>
              <a:rPr lang="en-US" sz="1500" i="1" dirty="0">
                <a:solidFill>
                  <a:srgbClr val="0F8A5F"/>
                </a:solidFill>
                <a:latin typeface="Calibri" pitchFamily="34" charset="0"/>
                <a:ea typeface="Calibri" pitchFamily="34" charset="-122"/>
                <a:cs typeface="Calibri" pitchFamily="34" charset="-120"/>
              </a:rPr>
              <a:t>Malaysia is ageing, so more households with older residents are coming to every township.</a:t>
            </a:r>
            <a:endParaRPr lang="en-US" sz="1500" dirty="0"/>
          </a:p>
        </p:txBody>
      </p:sp>
      <p:pic>
        <p:nvPicPr>
          <p:cNvPr id="19" name="Picture 18">
            <a:extLst>
              <a:ext uri="{FF2B5EF4-FFF2-40B4-BE49-F238E27FC236}">
                <a16:creationId xmlns:a16="http://schemas.microsoft.com/office/drawing/2014/main" id="{107AE54B-58A5-A3E9-2149-8A003215D32A}"/>
              </a:ext>
            </a:extLst>
          </p:cNvPr>
          <p:cNvPicPr>
            <a:picLocks noChangeAspect="1"/>
          </p:cNvPicPr>
          <p:nvPr/>
        </p:nvPicPr>
        <p:blipFill>
          <a:blip r:embed="rId3"/>
          <a:stretch>
            <a:fillRect/>
          </a:stretch>
        </p:blipFill>
        <p:spPr>
          <a:xfrm>
            <a:off x="7595235" y="219347"/>
            <a:ext cx="1000125" cy="7239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7"/>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0B3D2E"/>
                </a:solidFill>
                <a:latin typeface="Calibri" pitchFamily="34" charset="0"/>
                <a:ea typeface="Calibri" pitchFamily="34" charset="-122"/>
                <a:cs typeface="Calibri" pitchFamily="34" charset="-120"/>
              </a:rPr>
              <a:t>2. Target User</a:t>
            </a:r>
            <a:endParaRPr lang="en-US" sz="2800" dirty="0"/>
          </a:p>
        </p:txBody>
      </p:sp>
      <p:sp>
        <p:nvSpPr>
          <p:cNvPr id="3" name="Text 1"/>
          <p:cNvSpPr txBox="1"/>
          <p:nvPr/>
        </p:nvSpPr>
        <p:spPr>
          <a:xfrm>
            <a:off x="457200" y="777240"/>
            <a:ext cx="8229600" cy="320040"/>
          </a:xfrm>
          <a:prstGeom prst="rect">
            <a:avLst/>
          </a:prstGeom>
          <a:noFill/>
          <a:ln/>
        </p:spPr>
        <p:txBody>
          <a:bodyPr wrap="square" lIns="0" tIns="0" rIns="0" bIns="0" rtlCol="0" anchor="ctr"/>
          <a:lstStyle/>
          <a:p>
            <a:pPr marL="0" indent="0">
              <a:buNone/>
            </a:pPr>
            <a:r>
              <a:rPr lang="en-US" sz="1400" i="1" dirty="0">
                <a:solidFill>
                  <a:srgbClr val="5B6B64"/>
                </a:solidFill>
                <a:latin typeface="Calibri" pitchFamily="34" charset="0"/>
                <a:ea typeface="Calibri" pitchFamily="34" charset="-122"/>
                <a:cs typeface="Calibri" pitchFamily="34" charset="-120"/>
              </a:rPr>
              <a:t>Who benefits, and their challenges</a:t>
            </a:r>
            <a:endParaRPr lang="en-US" sz="1400" dirty="0"/>
          </a:p>
        </p:txBody>
      </p:sp>
      <p:sp>
        <p:nvSpPr>
          <p:cNvPr id="5" name="Text 2"/>
          <p:cNvSpPr txBox="1"/>
          <p:nvPr/>
        </p:nvSpPr>
        <p:spPr>
          <a:xfrm>
            <a:off x="457200" y="4828032"/>
            <a:ext cx="2743200" cy="201168"/>
          </a:xfrm>
          <a:prstGeom prst="rect">
            <a:avLst/>
          </a:prstGeom>
          <a:noFill/>
          <a:ln/>
        </p:spPr>
        <p:txBody>
          <a:bodyPr wrap="square" lIns="0" tIns="0" rIns="0" bIns="0" rtlCol="0" anchor="ctr"/>
          <a:lstStyle/>
          <a:p>
            <a:pPr marL="0" indent="0">
              <a:buNone/>
            </a:pPr>
            <a:r>
              <a:rPr lang="en-US" sz="1000" dirty="0">
                <a:solidFill>
                  <a:srgbClr val="5B6B64"/>
                </a:solidFill>
                <a:latin typeface="Calibri" pitchFamily="34" charset="0"/>
                <a:ea typeface="Calibri" pitchFamily="34" charset="-122"/>
                <a:cs typeface="Calibri" pitchFamily="34" charset="-120"/>
              </a:rPr>
              <a:t>SikLemau</a:t>
            </a:r>
            <a:endParaRPr lang="en-US" sz="1000" dirty="0"/>
          </a:p>
        </p:txBody>
      </p:sp>
      <p:sp>
        <p:nvSpPr>
          <p:cNvPr id="6" name="Shape 3"/>
          <p:cNvSpPr/>
          <p:nvPr/>
        </p:nvSpPr>
        <p:spPr>
          <a:xfrm>
            <a:off x="457200" y="1280160"/>
            <a:ext cx="1920240" cy="2926080"/>
          </a:xfrm>
          <a:prstGeom prst="roundRect">
            <a:avLst>
              <a:gd name="adj" fmla="val 4762"/>
            </a:avLst>
          </a:prstGeom>
          <a:solidFill>
            <a:srgbClr val="FFFFFF"/>
          </a:solidFill>
          <a:ln w="12700">
            <a:solidFill>
              <a:srgbClr val="DBE3DF"/>
            </a:solidFill>
            <a:prstDash val="solid"/>
          </a:ln>
        </p:spPr>
        <p:txBody>
          <a:bodyPr/>
          <a:lstStyle/>
          <a:p>
            <a:endParaRPr lang="en-MY"/>
          </a:p>
        </p:txBody>
      </p:sp>
      <p:sp>
        <p:nvSpPr>
          <p:cNvPr id="7" name="Shape 4"/>
          <p:cNvSpPr/>
          <p:nvPr/>
        </p:nvSpPr>
        <p:spPr>
          <a:xfrm>
            <a:off x="594360" y="1417320"/>
            <a:ext cx="73152" cy="320040"/>
          </a:xfrm>
          <a:prstGeom prst="rect">
            <a:avLst/>
          </a:prstGeom>
          <a:solidFill>
            <a:srgbClr val="0F8A5F"/>
          </a:solidFill>
          <a:ln w="12700">
            <a:solidFill>
              <a:srgbClr val="0F8A5F"/>
            </a:solidFill>
            <a:prstDash val="solid"/>
          </a:ln>
        </p:spPr>
        <p:txBody>
          <a:bodyPr/>
          <a:lstStyle/>
          <a:p>
            <a:endParaRPr lang="en-MY"/>
          </a:p>
        </p:txBody>
      </p:sp>
      <p:sp>
        <p:nvSpPr>
          <p:cNvPr id="8" name="Text 5"/>
          <p:cNvSpPr txBox="1"/>
          <p:nvPr/>
        </p:nvSpPr>
        <p:spPr>
          <a:xfrm>
            <a:off x="731520" y="1371600"/>
            <a:ext cx="1508760" cy="411480"/>
          </a:xfrm>
          <a:prstGeom prst="rect">
            <a:avLst/>
          </a:prstGeom>
          <a:noFill/>
          <a:ln/>
        </p:spPr>
        <p:txBody>
          <a:bodyPr wrap="square" lIns="0" tIns="0" rIns="0" bIns="0" rtlCol="0" anchor="ctr"/>
          <a:lstStyle/>
          <a:p>
            <a:pPr marL="0" indent="0">
              <a:buNone/>
            </a:pPr>
            <a:r>
              <a:rPr lang="en-US" sz="1400" b="1" dirty="0">
                <a:solidFill>
                  <a:srgbClr val="0B3D2E"/>
                </a:solidFill>
                <a:latin typeface="Calibri" pitchFamily="34" charset="0"/>
                <a:ea typeface="Calibri" pitchFamily="34" charset="-122"/>
                <a:cs typeface="Calibri" pitchFamily="34" charset="-120"/>
              </a:rPr>
              <a:t>Older residents</a:t>
            </a:r>
            <a:endParaRPr lang="en-US" sz="1400" dirty="0"/>
          </a:p>
        </p:txBody>
      </p:sp>
      <p:sp>
        <p:nvSpPr>
          <p:cNvPr id="9" name="Text 6"/>
          <p:cNvSpPr txBox="1"/>
          <p:nvPr/>
        </p:nvSpPr>
        <p:spPr>
          <a:xfrm>
            <a:off x="640080" y="1874520"/>
            <a:ext cx="1554480" cy="2240280"/>
          </a:xfrm>
          <a:prstGeom prst="rect">
            <a:avLst/>
          </a:prstGeom>
          <a:noFill/>
          <a:ln/>
        </p:spPr>
        <p:txBody>
          <a:bodyPr wrap="square" lIns="0" tIns="0" rIns="0" bIns="0" rtlCol="0" anchor="t"/>
          <a:lstStyle/>
          <a:p>
            <a:pPr marL="0" indent="0">
              <a:buNone/>
            </a:pPr>
            <a:r>
              <a:rPr lang="en-US" sz="1250" dirty="0">
                <a:solidFill>
                  <a:srgbClr val="14211C"/>
                </a:solidFill>
                <a:latin typeface="Calibri" pitchFamily="34" charset="0"/>
                <a:ea typeface="Calibri" pitchFamily="34" charset="-122"/>
                <a:cs typeface="Calibri" pitchFamily="34" charset="-120"/>
              </a:rPr>
              <a:t>People living alone, like Pak Cik Ahmad, 72. Want help without losing independence.</a:t>
            </a:r>
            <a:endParaRPr lang="en-US" sz="1250" dirty="0"/>
          </a:p>
        </p:txBody>
      </p:sp>
      <p:sp>
        <p:nvSpPr>
          <p:cNvPr id="10" name="Shape 7"/>
          <p:cNvSpPr/>
          <p:nvPr/>
        </p:nvSpPr>
        <p:spPr>
          <a:xfrm>
            <a:off x="2491740" y="1280160"/>
            <a:ext cx="1920240" cy="2926080"/>
          </a:xfrm>
          <a:prstGeom prst="roundRect">
            <a:avLst>
              <a:gd name="adj" fmla="val 4762"/>
            </a:avLst>
          </a:prstGeom>
          <a:solidFill>
            <a:srgbClr val="FFFFFF"/>
          </a:solidFill>
          <a:ln w="12700">
            <a:solidFill>
              <a:srgbClr val="DBE3DF"/>
            </a:solidFill>
            <a:prstDash val="solid"/>
          </a:ln>
        </p:spPr>
        <p:txBody>
          <a:bodyPr/>
          <a:lstStyle/>
          <a:p>
            <a:endParaRPr lang="en-MY"/>
          </a:p>
        </p:txBody>
      </p:sp>
      <p:sp>
        <p:nvSpPr>
          <p:cNvPr id="11" name="Shape 8"/>
          <p:cNvSpPr/>
          <p:nvPr/>
        </p:nvSpPr>
        <p:spPr>
          <a:xfrm>
            <a:off x="2628900" y="1417320"/>
            <a:ext cx="73152" cy="320040"/>
          </a:xfrm>
          <a:prstGeom prst="rect">
            <a:avLst/>
          </a:prstGeom>
          <a:solidFill>
            <a:srgbClr val="0F8A5F"/>
          </a:solidFill>
          <a:ln w="12700">
            <a:solidFill>
              <a:srgbClr val="0F8A5F"/>
            </a:solidFill>
            <a:prstDash val="solid"/>
          </a:ln>
        </p:spPr>
        <p:txBody>
          <a:bodyPr/>
          <a:lstStyle/>
          <a:p>
            <a:endParaRPr lang="en-MY"/>
          </a:p>
        </p:txBody>
      </p:sp>
      <p:sp>
        <p:nvSpPr>
          <p:cNvPr id="12" name="Text 9"/>
          <p:cNvSpPr txBox="1"/>
          <p:nvPr/>
        </p:nvSpPr>
        <p:spPr>
          <a:xfrm>
            <a:off x="2766060" y="1371600"/>
            <a:ext cx="1508760" cy="411480"/>
          </a:xfrm>
          <a:prstGeom prst="rect">
            <a:avLst/>
          </a:prstGeom>
          <a:noFill/>
          <a:ln/>
        </p:spPr>
        <p:txBody>
          <a:bodyPr wrap="square" lIns="0" tIns="0" rIns="0" bIns="0" rtlCol="0" anchor="ctr"/>
          <a:lstStyle/>
          <a:p>
            <a:pPr marL="0" indent="0">
              <a:buNone/>
            </a:pPr>
            <a:r>
              <a:rPr lang="en-US" sz="1400" b="1" dirty="0">
                <a:solidFill>
                  <a:srgbClr val="0B3D2E"/>
                </a:solidFill>
                <a:latin typeface="Calibri" pitchFamily="34" charset="0"/>
                <a:ea typeface="Calibri" pitchFamily="34" charset="-122"/>
                <a:cs typeface="Calibri" pitchFamily="34" charset="-120"/>
              </a:rPr>
              <a:t>Families</a:t>
            </a:r>
            <a:endParaRPr lang="en-US" sz="1400" dirty="0"/>
          </a:p>
        </p:txBody>
      </p:sp>
      <p:sp>
        <p:nvSpPr>
          <p:cNvPr id="13" name="Text 10"/>
          <p:cNvSpPr txBox="1"/>
          <p:nvPr/>
        </p:nvSpPr>
        <p:spPr>
          <a:xfrm>
            <a:off x="2674620" y="1874520"/>
            <a:ext cx="1554480" cy="2240280"/>
          </a:xfrm>
          <a:prstGeom prst="rect">
            <a:avLst/>
          </a:prstGeom>
          <a:noFill/>
          <a:ln/>
        </p:spPr>
        <p:txBody>
          <a:bodyPr wrap="square" lIns="0" tIns="0" rIns="0" bIns="0" rtlCol="0" anchor="t"/>
          <a:lstStyle/>
          <a:p>
            <a:pPr marL="0" indent="0">
              <a:buNone/>
            </a:pPr>
            <a:r>
              <a:rPr lang="en-US" sz="1250" dirty="0">
                <a:solidFill>
                  <a:srgbClr val="14211C"/>
                </a:solidFill>
                <a:latin typeface="Calibri" pitchFamily="34" charset="0"/>
                <a:ea typeface="Calibri" pitchFamily="34" charset="-122"/>
                <a:cs typeface="Calibri" pitchFamily="34" charset="-120"/>
              </a:rPr>
              <a:t>Worry from afar. Need clear, timely alerts.</a:t>
            </a:r>
            <a:endParaRPr lang="en-US" sz="1250" dirty="0"/>
          </a:p>
        </p:txBody>
      </p:sp>
      <p:sp>
        <p:nvSpPr>
          <p:cNvPr id="14" name="Shape 11"/>
          <p:cNvSpPr/>
          <p:nvPr/>
        </p:nvSpPr>
        <p:spPr>
          <a:xfrm>
            <a:off x="4526280" y="1280160"/>
            <a:ext cx="1920240" cy="2926080"/>
          </a:xfrm>
          <a:prstGeom prst="roundRect">
            <a:avLst>
              <a:gd name="adj" fmla="val 4762"/>
            </a:avLst>
          </a:prstGeom>
          <a:solidFill>
            <a:srgbClr val="FFFFFF"/>
          </a:solidFill>
          <a:ln w="12700">
            <a:solidFill>
              <a:srgbClr val="DBE3DF"/>
            </a:solidFill>
            <a:prstDash val="solid"/>
          </a:ln>
        </p:spPr>
        <p:txBody>
          <a:bodyPr/>
          <a:lstStyle/>
          <a:p>
            <a:endParaRPr lang="en-MY"/>
          </a:p>
        </p:txBody>
      </p:sp>
      <p:sp>
        <p:nvSpPr>
          <p:cNvPr id="15" name="Shape 12"/>
          <p:cNvSpPr/>
          <p:nvPr/>
        </p:nvSpPr>
        <p:spPr>
          <a:xfrm>
            <a:off x="4663440" y="1417320"/>
            <a:ext cx="73152" cy="320040"/>
          </a:xfrm>
          <a:prstGeom prst="rect">
            <a:avLst/>
          </a:prstGeom>
          <a:solidFill>
            <a:srgbClr val="0F8A5F"/>
          </a:solidFill>
          <a:ln w="12700">
            <a:solidFill>
              <a:srgbClr val="0F8A5F"/>
            </a:solidFill>
            <a:prstDash val="solid"/>
          </a:ln>
        </p:spPr>
        <p:txBody>
          <a:bodyPr/>
          <a:lstStyle/>
          <a:p>
            <a:endParaRPr lang="en-MY"/>
          </a:p>
        </p:txBody>
      </p:sp>
      <p:sp>
        <p:nvSpPr>
          <p:cNvPr id="16" name="Text 13"/>
          <p:cNvSpPr txBox="1"/>
          <p:nvPr/>
        </p:nvSpPr>
        <p:spPr>
          <a:xfrm>
            <a:off x="4800600" y="1371600"/>
            <a:ext cx="1508760" cy="411480"/>
          </a:xfrm>
          <a:prstGeom prst="rect">
            <a:avLst/>
          </a:prstGeom>
          <a:noFill/>
          <a:ln/>
        </p:spPr>
        <p:txBody>
          <a:bodyPr wrap="square" lIns="0" tIns="0" rIns="0" bIns="0" rtlCol="0" anchor="ctr"/>
          <a:lstStyle/>
          <a:p>
            <a:pPr marL="0" indent="0">
              <a:buNone/>
            </a:pPr>
            <a:r>
              <a:rPr lang="en-US" sz="1400" b="1" dirty="0">
                <a:solidFill>
                  <a:srgbClr val="0B3D2E"/>
                </a:solidFill>
                <a:latin typeface="Calibri" pitchFamily="34" charset="0"/>
                <a:ea typeface="Calibri" pitchFamily="34" charset="-122"/>
                <a:cs typeface="Calibri" pitchFamily="34" charset="-120"/>
              </a:rPr>
              <a:t>Neighbours and staff</a:t>
            </a:r>
            <a:endParaRPr lang="en-US" sz="1400" dirty="0"/>
          </a:p>
        </p:txBody>
      </p:sp>
      <p:sp>
        <p:nvSpPr>
          <p:cNvPr id="17" name="Text 14"/>
          <p:cNvSpPr txBox="1"/>
          <p:nvPr/>
        </p:nvSpPr>
        <p:spPr>
          <a:xfrm>
            <a:off x="4709160" y="1874520"/>
            <a:ext cx="1554480" cy="2240280"/>
          </a:xfrm>
          <a:prstGeom prst="rect">
            <a:avLst/>
          </a:prstGeom>
          <a:noFill/>
          <a:ln/>
        </p:spPr>
        <p:txBody>
          <a:bodyPr wrap="square" lIns="0" tIns="0" rIns="0" bIns="0" rtlCol="0" anchor="t"/>
          <a:lstStyle/>
          <a:p>
            <a:pPr marL="0" indent="0">
              <a:buNone/>
            </a:pPr>
            <a:r>
              <a:rPr lang="en-US" sz="1250" dirty="0">
                <a:solidFill>
                  <a:srgbClr val="14211C"/>
                </a:solidFill>
                <a:latin typeface="Calibri" pitchFamily="34" charset="0"/>
                <a:ea typeface="Calibri" pitchFamily="34" charset="-122"/>
                <a:cs typeface="Calibri" pitchFamily="34" charset="-120"/>
              </a:rPr>
              <a:t>Volunteers, guardhouse and management who can respond.</a:t>
            </a:r>
            <a:endParaRPr lang="en-US" sz="1250" dirty="0"/>
          </a:p>
        </p:txBody>
      </p:sp>
      <p:sp>
        <p:nvSpPr>
          <p:cNvPr id="18" name="Shape 15"/>
          <p:cNvSpPr/>
          <p:nvPr/>
        </p:nvSpPr>
        <p:spPr>
          <a:xfrm>
            <a:off x="6560820" y="1280160"/>
            <a:ext cx="2103120" cy="2926080"/>
          </a:xfrm>
          <a:prstGeom prst="roundRect">
            <a:avLst>
              <a:gd name="adj" fmla="val 4348"/>
            </a:avLst>
          </a:prstGeom>
          <a:solidFill>
            <a:srgbClr val="FFFFFF"/>
          </a:solidFill>
          <a:ln w="12700">
            <a:solidFill>
              <a:srgbClr val="DBE3DF"/>
            </a:solidFill>
            <a:prstDash val="solid"/>
          </a:ln>
        </p:spPr>
        <p:txBody>
          <a:bodyPr/>
          <a:lstStyle/>
          <a:p>
            <a:endParaRPr lang="en-MY"/>
          </a:p>
        </p:txBody>
      </p:sp>
      <p:sp>
        <p:nvSpPr>
          <p:cNvPr id="19" name="Shape 16"/>
          <p:cNvSpPr/>
          <p:nvPr/>
        </p:nvSpPr>
        <p:spPr>
          <a:xfrm>
            <a:off x="6697980" y="1417320"/>
            <a:ext cx="73152" cy="320040"/>
          </a:xfrm>
          <a:prstGeom prst="rect">
            <a:avLst/>
          </a:prstGeom>
          <a:solidFill>
            <a:srgbClr val="0F8A5F"/>
          </a:solidFill>
          <a:ln w="12700">
            <a:solidFill>
              <a:srgbClr val="0F8A5F"/>
            </a:solidFill>
            <a:prstDash val="solid"/>
          </a:ln>
        </p:spPr>
        <p:txBody>
          <a:bodyPr/>
          <a:lstStyle/>
          <a:p>
            <a:endParaRPr lang="en-MY"/>
          </a:p>
        </p:txBody>
      </p:sp>
      <p:sp>
        <p:nvSpPr>
          <p:cNvPr id="20" name="Text 17"/>
          <p:cNvSpPr txBox="1"/>
          <p:nvPr/>
        </p:nvSpPr>
        <p:spPr>
          <a:xfrm>
            <a:off x="6835140" y="1371600"/>
            <a:ext cx="1691640" cy="411480"/>
          </a:xfrm>
          <a:prstGeom prst="rect">
            <a:avLst/>
          </a:prstGeom>
          <a:noFill/>
          <a:ln/>
        </p:spPr>
        <p:txBody>
          <a:bodyPr wrap="square" lIns="0" tIns="0" rIns="0" bIns="0" rtlCol="0" anchor="ctr"/>
          <a:lstStyle/>
          <a:p>
            <a:pPr marL="0" indent="0">
              <a:buNone/>
            </a:pPr>
            <a:r>
              <a:rPr lang="en-US" sz="1400" b="1" dirty="0">
                <a:solidFill>
                  <a:srgbClr val="0B3D2E"/>
                </a:solidFill>
                <a:latin typeface="Calibri" pitchFamily="34" charset="0"/>
                <a:ea typeface="Calibri" pitchFamily="34" charset="-122"/>
                <a:cs typeface="Calibri" pitchFamily="34" charset="-120"/>
              </a:rPr>
              <a:t>Busy residents</a:t>
            </a:r>
            <a:endParaRPr lang="en-US" sz="1400" dirty="0"/>
          </a:p>
        </p:txBody>
      </p:sp>
      <p:sp>
        <p:nvSpPr>
          <p:cNvPr id="21" name="Text 18"/>
          <p:cNvSpPr txBox="1"/>
          <p:nvPr/>
        </p:nvSpPr>
        <p:spPr>
          <a:xfrm>
            <a:off x="6743700" y="1874520"/>
            <a:ext cx="1737360" cy="2240280"/>
          </a:xfrm>
          <a:prstGeom prst="rect">
            <a:avLst/>
          </a:prstGeom>
          <a:noFill/>
          <a:ln/>
        </p:spPr>
        <p:txBody>
          <a:bodyPr wrap="square" lIns="0" tIns="0" rIns="0" bIns="0" rtlCol="0" anchor="t"/>
          <a:lstStyle/>
          <a:p>
            <a:pPr marL="0" indent="0">
              <a:buNone/>
            </a:pPr>
            <a:r>
              <a:rPr lang="en-US" sz="1250" dirty="0">
                <a:solidFill>
                  <a:srgbClr val="14211C"/>
                </a:solidFill>
                <a:latin typeface="Calibri" pitchFamily="34" charset="0"/>
                <a:ea typeface="Calibri" pitchFamily="34" charset="-122"/>
                <a:cs typeface="Calibri" pitchFamily="34" charset="-120"/>
              </a:rPr>
              <a:t>Want affordable healthy meals, short workouts and stress breaks.</a:t>
            </a:r>
            <a:endParaRPr lang="en-US" sz="1250" dirty="0"/>
          </a:p>
        </p:txBody>
      </p:sp>
      <p:sp>
        <p:nvSpPr>
          <p:cNvPr id="22" name="Text 19"/>
          <p:cNvSpPr txBox="1"/>
          <p:nvPr/>
        </p:nvSpPr>
        <p:spPr>
          <a:xfrm>
            <a:off x="457200" y="4343400"/>
            <a:ext cx="8229600" cy="365760"/>
          </a:xfrm>
          <a:prstGeom prst="rect">
            <a:avLst/>
          </a:prstGeom>
          <a:noFill/>
          <a:ln/>
        </p:spPr>
        <p:txBody>
          <a:bodyPr wrap="square" lIns="0" tIns="0" rIns="0" bIns="0" rtlCol="0" anchor="ctr"/>
          <a:lstStyle/>
          <a:p>
            <a:pPr marL="0" indent="0">
              <a:buNone/>
            </a:pPr>
            <a:r>
              <a:rPr lang="en-US" sz="1300" dirty="0">
                <a:solidFill>
                  <a:srgbClr val="5B6B64"/>
                </a:solidFill>
                <a:latin typeface="Calibri" pitchFamily="34" charset="0"/>
                <a:ea typeface="Calibri" pitchFamily="34" charset="-122"/>
                <a:cs typeface="Calibri" pitchFamily="34" charset="-120"/>
              </a:rPr>
              <a:t>Challenges: low digital confidence and language needs (BM, English, Mandarin, Tamil).</a:t>
            </a:r>
            <a:endParaRPr lang="en-US" sz="1300" dirty="0"/>
          </a:p>
        </p:txBody>
      </p:sp>
      <p:pic>
        <p:nvPicPr>
          <p:cNvPr id="23" name="Picture 22">
            <a:extLst>
              <a:ext uri="{FF2B5EF4-FFF2-40B4-BE49-F238E27FC236}">
                <a16:creationId xmlns:a16="http://schemas.microsoft.com/office/drawing/2014/main" id="{05EDAF60-1096-E370-F5EC-362CB5DFC11D}"/>
              </a:ext>
            </a:extLst>
          </p:cNvPr>
          <p:cNvPicPr>
            <a:picLocks noChangeAspect="1"/>
          </p:cNvPicPr>
          <p:nvPr/>
        </p:nvPicPr>
        <p:blipFill>
          <a:blip r:embed="rId3"/>
          <a:stretch>
            <a:fillRect/>
          </a:stretch>
        </p:blipFill>
        <p:spPr>
          <a:xfrm>
            <a:off x="7595235" y="219347"/>
            <a:ext cx="1000125" cy="7239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7"/>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0B3D2E"/>
                </a:solidFill>
                <a:latin typeface="Calibri" pitchFamily="34" charset="0"/>
                <a:ea typeface="Calibri" pitchFamily="34" charset="-122"/>
                <a:cs typeface="Calibri" pitchFamily="34" charset="-120"/>
              </a:rPr>
              <a:t>3. Our Solution</a:t>
            </a:r>
            <a:endParaRPr lang="en-US" sz="2800" dirty="0"/>
          </a:p>
        </p:txBody>
      </p:sp>
      <p:sp>
        <p:nvSpPr>
          <p:cNvPr id="3" name="Text 1"/>
          <p:cNvSpPr txBox="1"/>
          <p:nvPr/>
        </p:nvSpPr>
        <p:spPr>
          <a:xfrm>
            <a:off x="457200" y="777240"/>
            <a:ext cx="8229600" cy="320040"/>
          </a:xfrm>
          <a:prstGeom prst="rect">
            <a:avLst/>
          </a:prstGeom>
          <a:noFill/>
          <a:ln/>
        </p:spPr>
        <p:txBody>
          <a:bodyPr wrap="square" lIns="0" tIns="0" rIns="0" bIns="0" rtlCol="0" anchor="ctr"/>
          <a:lstStyle/>
          <a:p>
            <a:pPr marL="0" indent="0">
              <a:buNone/>
            </a:pPr>
            <a:r>
              <a:rPr lang="en-US" sz="1400" i="1" dirty="0">
                <a:solidFill>
                  <a:srgbClr val="5B6B64"/>
                </a:solidFill>
                <a:latin typeface="Calibri" pitchFamily="34" charset="0"/>
                <a:ea typeface="Calibri" pitchFamily="34" charset="-122"/>
                <a:cs typeface="Calibri" pitchFamily="34" charset="-120"/>
              </a:rPr>
              <a:t>An AI health agent that uses the township itself as the health system</a:t>
            </a:r>
            <a:endParaRPr lang="en-US" sz="1400" dirty="0"/>
          </a:p>
        </p:txBody>
      </p:sp>
      <p:sp>
        <p:nvSpPr>
          <p:cNvPr id="5" name="Text 2"/>
          <p:cNvSpPr txBox="1"/>
          <p:nvPr/>
        </p:nvSpPr>
        <p:spPr>
          <a:xfrm>
            <a:off x="457200" y="4828032"/>
            <a:ext cx="2743200" cy="201168"/>
          </a:xfrm>
          <a:prstGeom prst="rect">
            <a:avLst/>
          </a:prstGeom>
          <a:noFill/>
          <a:ln/>
        </p:spPr>
        <p:txBody>
          <a:bodyPr wrap="square" lIns="0" tIns="0" rIns="0" bIns="0" rtlCol="0" anchor="ctr"/>
          <a:lstStyle/>
          <a:p>
            <a:pPr marL="0" indent="0">
              <a:buNone/>
            </a:pPr>
            <a:r>
              <a:rPr lang="en-US" sz="1000" dirty="0">
                <a:solidFill>
                  <a:srgbClr val="5B6B64"/>
                </a:solidFill>
                <a:latin typeface="Calibri" pitchFamily="34" charset="0"/>
                <a:ea typeface="Calibri" pitchFamily="34" charset="-122"/>
                <a:cs typeface="Calibri" pitchFamily="34" charset="-120"/>
              </a:rPr>
              <a:t>SikLemau</a:t>
            </a:r>
            <a:endParaRPr lang="en-US" sz="1000" dirty="0"/>
          </a:p>
        </p:txBody>
      </p:sp>
      <p:sp>
        <p:nvSpPr>
          <p:cNvPr id="6" name="Shape 3"/>
          <p:cNvSpPr/>
          <p:nvPr/>
        </p:nvSpPr>
        <p:spPr>
          <a:xfrm>
            <a:off x="457200" y="1325880"/>
            <a:ext cx="1572768" cy="3017520"/>
          </a:xfrm>
          <a:prstGeom prst="roundRect">
            <a:avLst>
              <a:gd name="adj" fmla="val 5814"/>
            </a:avLst>
          </a:prstGeom>
          <a:solidFill>
            <a:srgbClr val="FFFFFF"/>
          </a:solidFill>
          <a:ln w="12700">
            <a:solidFill>
              <a:srgbClr val="DBE3DF"/>
            </a:solidFill>
            <a:prstDash val="solid"/>
          </a:ln>
        </p:spPr>
        <p:txBody>
          <a:bodyPr/>
          <a:lstStyle/>
          <a:p>
            <a:endParaRPr lang="en-MY"/>
          </a:p>
        </p:txBody>
      </p:sp>
      <p:sp>
        <p:nvSpPr>
          <p:cNvPr id="7" name="Shape 4"/>
          <p:cNvSpPr/>
          <p:nvPr/>
        </p:nvSpPr>
        <p:spPr>
          <a:xfrm>
            <a:off x="594360" y="1463040"/>
            <a:ext cx="73152" cy="320040"/>
          </a:xfrm>
          <a:prstGeom prst="rect">
            <a:avLst/>
          </a:prstGeom>
          <a:solidFill>
            <a:srgbClr val="0F8A5F"/>
          </a:solidFill>
          <a:ln w="12700">
            <a:solidFill>
              <a:srgbClr val="0F8A5F"/>
            </a:solidFill>
            <a:prstDash val="solid"/>
          </a:ln>
        </p:spPr>
        <p:txBody>
          <a:bodyPr/>
          <a:lstStyle/>
          <a:p>
            <a:endParaRPr lang="en-MY"/>
          </a:p>
        </p:txBody>
      </p:sp>
      <p:sp>
        <p:nvSpPr>
          <p:cNvPr id="8" name="Text 5"/>
          <p:cNvSpPr txBox="1"/>
          <p:nvPr/>
        </p:nvSpPr>
        <p:spPr>
          <a:xfrm>
            <a:off x="731520" y="1417320"/>
            <a:ext cx="1161288" cy="411480"/>
          </a:xfrm>
          <a:prstGeom prst="rect">
            <a:avLst/>
          </a:prstGeom>
          <a:noFill/>
          <a:ln/>
        </p:spPr>
        <p:txBody>
          <a:bodyPr wrap="square" lIns="0" tIns="0" rIns="0" bIns="0" rtlCol="0" anchor="ctr"/>
          <a:lstStyle/>
          <a:p>
            <a:pPr marL="0" indent="0">
              <a:buNone/>
            </a:pPr>
            <a:r>
              <a:rPr lang="en-US" sz="1300" b="1" dirty="0">
                <a:solidFill>
                  <a:srgbClr val="0B3D2E"/>
                </a:solidFill>
                <a:latin typeface="Calibri" pitchFamily="34" charset="0"/>
                <a:ea typeface="Calibri" pitchFamily="34" charset="-122"/>
                <a:cs typeface="Calibri" pitchFamily="34" charset="-120"/>
              </a:rPr>
              <a:t>Check-in Circle</a:t>
            </a:r>
            <a:endParaRPr lang="en-US" sz="1300" dirty="0"/>
          </a:p>
        </p:txBody>
      </p:sp>
      <p:sp>
        <p:nvSpPr>
          <p:cNvPr id="9" name="Text 6"/>
          <p:cNvSpPr txBox="1"/>
          <p:nvPr/>
        </p:nvSpPr>
        <p:spPr>
          <a:xfrm>
            <a:off x="640080" y="1920240"/>
            <a:ext cx="1207008" cy="2331720"/>
          </a:xfrm>
          <a:prstGeom prst="rect">
            <a:avLst/>
          </a:prstGeom>
          <a:noFill/>
          <a:ln/>
        </p:spPr>
        <p:txBody>
          <a:bodyPr wrap="square" lIns="0" tIns="0" rIns="0" bIns="0" rtlCol="0" anchor="t"/>
          <a:lstStyle/>
          <a:p>
            <a:pPr marL="0" indent="0">
              <a:buNone/>
            </a:pPr>
            <a:r>
              <a:rPr lang="en-US" sz="1200" dirty="0">
                <a:solidFill>
                  <a:srgbClr val="14211C"/>
                </a:solidFill>
                <a:latin typeface="Calibri" pitchFamily="34" charset="0"/>
                <a:ea typeface="Calibri" pitchFamily="34" charset="-122"/>
                <a:cs typeface="Calibri" pitchFamily="34" charset="-120"/>
              </a:rPr>
              <a:t>Daily check-in; escalates to neighbour, guardhouse, family if missed</a:t>
            </a:r>
            <a:endParaRPr lang="en-US" sz="1200" dirty="0"/>
          </a:p>
        </p:txBody>
      </p:sp>
      <p:sp>
        <p:nvSpPr>
          <p:cNvPr id="10" name="Shape 7"/>
          <p:cNvSpPr/>
          <p:nvPr/>
        </p:nvSpPr>
        <p:spPr>
          <a:xfrm>
            <a:off x="2121408" y="1325880"/>
            <a:ext cx="1572768" cy="3017520"/>
          </a:xfrm>
          <a:prstGeom prst="roundRect">
            <a:avLst>
              <a:gd name="adj" fmla="val 5814"/>
            </a:avLst>
          </a:prstGeom>
          <a:solidFill>
            <a:srgbClr val="FFFFFF"/>
          </a:solidFill>
          <a:ln w="12700">
            <a:solidFill>
              <a:srgbClr val="DBE3DF"/>
            </a:solidFill>
            <a:prstDash val="solid"/>
          </a:ln>
        </p:spPr>
        <p:txBody>
          <a:bodyPr/>
          <a:lstStyle/>
          <a:p>
            <a:endParaRPr lang="en-MY"/>
          </a:p>
        </p:txBody>
      </p:sp>
      <p:sp>
        <p:nvSpPr>
          <p:cNvPr id="11" name="Shape 8"/>
          <p:cNvSpPr/>
          <p:nvPr/>
        </p:nvSpPr>
        <p:spPr>
          <a:xfrm>
            <a:off x="2258568" y="1463040"/>
            <a:ext cx="73152" cy="320040"/>
          </a:xfrm>
          <a:prstGeom prst="rect">
            <a:avLst/>
          </a:prstGeom>
          <a:solidFill>
            <a:srgbClr val="0F8A5F"/>
          </a:solidFill>
          <a:ln w="12700">
            <a:solidFill>
              <a:srgbClr val="0F8A5F"/>
            </a:solidFill>
            <a:prstDash val="solid"/>
          </a:ln>
        </p:spPr>
        <p:txBody>
          <a:bodyPr/>
          <a:lstStyle/>
          <a:p>
            <a:endParaRPr lang="en-MY"/>
          </a:p>
        </p:txBody>
      </p:sp>
      <p:sp>
        <p:nvSpPr>
          <p:cNvPr id="12" name="Text 9"/>
          <p:cNvSpPr txBox="1"/>
          <p:nvPr/>
        </p:nvSpPr>
        <p:spPr>
          <a:xfrm>
            <a:off x="2395728" y="1417320"/>
            <a:ext cx="1161288" cy="411480"/>
          </a:xfrm>
          <a:prstGeom prst="rect">
            <a:avLst/>
          </a:prstGeom>
          <a:noFill/>
          <a:ln/>
        </p:spPr>
        <p:txBody>
          <a:bodyPr wrap="square" lIns="0" tIns="0" rIns="0" bIns="0" rtlCol="0" anchor="ctr"/>
          <a:lstStyle/>
          <a:p>
            <a:pPr marL="0" indent="0">
              <a:buNone/>
            </a:pPr>
            <a:r>
              <a:rPr lang="en-US" sz="1300" b="1" dirty="0">
                <a:solidFill>
                  <a:srgbClr val="0B3D2E"/>
                </a:solidFill>
                <a:latin typeface="Calibri" pitchFamily="34" charset="0"/>
                <a:ea typeface="Calibri" pitchFamily="34" charset="-122"/>
                <a:cs typeface="Calibri" pitchFamily="34" charset="-120"/>
              </a:rPr>
              <a:t>Daily Wellbeing</a:t>
            </a:r>
            <a:endParaRPr lang="en-US" sz="1300" dirty="0"/>
          </a:p>
        </p:txBody>
      </p:sp>
      <p:sp>
        <p:nvSpPr>
          <p:cNvPr id="13" name="Text 10"/>
          <p:cNvSpPr txBox="1"/>
          <p:nvPr/>
        </p:nvSpPr>
        <p:spPr>
          <a:xfrm>
            <a:off x="2304288" y="1920240"/>
            <a:ext cx="1207008" cy="2331720"/>
          </a:xfrm>
          <a:prstGeom prst="rect">
            <a:avLst/>
          </a:prstGeom>
          <a:noFill/>
          <a:ln/>
        </p:spPr>
        <p:txBody>
          <a:bodyPr wrap="square" lIns="0" tIns="0" rIns="0" bIns="0" rtlCol="0" anchor="t"/>
          <a:lstStyle/>
          <a:p>
            <a:pPr marL="0" indent="0">
              <a:buNone/>
            </a:pPr>
            <a:r>
              <a:rPr lang="en-US" sz="1200" dirty="0">
                <a:solidFill>
                  <a:srgbClr val="14211C"/>
                </a:solidFill>
                <a:latin typeface="Calibri" pitchFamily="34" charset="0"/>
                <a:ea typeface="Calibri" pitchFamily="34" charset="-122"/>
                <a:cs typeface="Calibri" pitchFamily="34" charset="-120"/>
              </a:rPr>
              <a:t>Eat, Move, Mind, using local food stalls, parks and tracks</a:t>
            </a:r>
            <a:endParaRPr lang="en-US" sz="1200" dirty="0"/>
          </a:p>
        </p:txBody>
      </p:sp>
      <p:sp>
        <p:nvSpPr>
          <p:cNvPr id="14" name="Shape 11"/>
          <p:cNvSpPr/>
          <p:nvPr/>
        </p:nvSpPr>
        <p:spPr>
          <a:xfrm>
            <a:off x="3785616" y="1325880"/>
            <a:ext cx="1572768" cy="3017520"/>
          </a:xfrm>
          <a:prstGeom prst="roundRect">
            <a:avLst>
              <a:gd name="adj" fmla="val 5814"/>
            </a:avLst>
          </a:prstGeom>
          <a:solidFill>
            <a:srgbClr val="FFFFFF"/>
          </a:solidFill>
          <a:ln w="12700">
            <a:solidFill>
              <a:srgbClr val="DBE3DF"/>
            </a:solidFill>
            <a:prstDash val="solid"/>
          </a:ln>
        </p:spPr>
        <p:txBody>
          <a:bodyPr/>
          <a:lstStyle/>
          <a:p>
            <a:endParaRPr lang="en-MY"/>
          </a:p>
        </p:txBody>
      </p:sp>
      <p:sp>
        <p:nvSpPr>
          <p:cNvPr id="15" name="Shape 12"/>
          <p:cNvSpPr/>
          <p:nvPr/>
        </p:nvSpPr>
        <p:spPr>
          <a:xfrm>
            <a:off x="3922776" y="1463040"/>
            <a:ext cx="73152" cy="320040"/>
          </a:xfrm>
          <a:prstGeom prst="rect">
            <a:avLst/>
          </a:prstGeom>
          <a:solidFill>
            <a:srgbClr val="0F8A5F"/>
          </a:solidFill>
          <a:ln w="12700">
            <a:solidFill>
              <a:srgbClr val="0F8A5F"/>
            </a:solidFill>
            <a:prstDash val="solid"/>
          </a:ln>
        </p:spPr>
        <p:txBody>
          <a:bodyPr/>
          <a:lstStyle/>
          <a:p>
            <a:endParaRPr lang="en-MY"/>
          </a:p>
        </p:txBody>
      </p:sp>
      <p:sp>
        <p:nvSpPr>
          <p:cNvPr id="16" name="Text 13"/>
          <p:cNvSpPr txBox="1"/>
          <p:nvPr/>
        </p:nvSpPr>
        <p:spPr>
          <a:xfrm>
            <a:off x="4059936" y="1417320"/>
            <a:ext cx="1161288" cy="411480"/>
          </a:xfrm>
          <a:prstGeom prst="rect">
            <a:avLst/>
          </a:prstGeom>
          <a:noFill/>
          <a:ln/>
        </p:spPr>
        <p:txBody>
          <a:bodyPr wrap="square" lIns="0" tIns="0" rIns="0" bIns="0" rtlCol="0" anchor="ctr"/>
          <a:lstStyle/>
          <a:p>
            <a:pPr marL="0" indent="0">
              <a:buNone/>
            </a:pPr>
            <a:r>
              <a:rPr lang="en-US" sz="1300" b="1" dirty="0">
                <a:solidFill>
                  <a:srgbClr val="0B3D2E"/>
                </a:solidFill>
                <a:latin typeface="Calibri" pitchFamily="34" charset="0"/>
                <a:ea typeface="Calibri" pitchFamily="34" charset="-122"/>
                <a:cs typeface="Calibri" pitchFamily="34" charset="-120"/>
              </a:rPr>
              <a:t>Neighbour matching</a:t>
            </a:r>
            <a:endParaRPr lang="en-US" sz="1300" dirty="0"/>
          </a:p>
        </p:txBody>
      </p:sp>
      <p:sp>
        <p:nvSpPr>
          <p:cNvPr id="17" name="Text 14"/>
          <p:cNvSpPr txBox="1"/>
          <p:nvPr/>
        </p:nvSpPr>
        <p:spPr>
          <a:xfrm>
            <a:off x="3968496" y="1920240"/>
            <a:ext cx="1207008" cy="2331720"/>
          </a:xfrm>
          <a:prstGeom prst="rect">
            <a:avLst/>
          </a:prstGeom>
          <a:noFill/>
          <a:ln/>
        </p:spPr>
        <p:txBody>
          <a:bodyPr wrap="square" lIns="0" tIns="0" rIns="0" bIns="0" rtlCol="0" anchor="t"/>
          <a:lstStyle/>
          <a:p>
            <a:pPr marL="0" indent="0">
              <a:buNone/>
            </a:pPr>
            <a:r>
              <a:rPr lang="en-US" sz="1200" dirty="0">
                <a:solidFill>
                  <a:srgbClr val="14211C"/>
                </a:solidFill>
                <a:latin typeface="Calibri" pitchFamily="34" charset="0"/>
                <a:ea typeface="Calibri" pitchFamily="34" charset="-122"/>
                <a:cs typeface="Calibri" pitchFamily="34" charset="-120"/>
              </a:rPr>
              <a:t>Walking buddies and caregiver circles, opt-in</a:t>
            </a:r>
            <a:endParaRPr lang="en-US" sz="1200" dirty="0"/>
          </a:p>
        </p:txBody>
      </p:sp>
      <p:sp>
        <p:nvSpPr>
          <p:cNvPr id="18" name="Shape 15"/>
          <p:cNvSpPr/>
          <p:nvPr/>
        </p:nvSpPr>
        <p:spPr>
          <a:xfrm>
            <a:off x="5449824" y="1325880"/>
            <a:ext cx="1572768" cy="3017520"/>
          </a:xfrm>
          <a:prstGeom prst="roundRect">
            <a:avLst>
              <a:gd name="adj" fmla="val 5814"/>
            </a:avLst>
          </a:prstGeom>
          <a:solidFill>
            <a:srgbClr val="FFFFFF"/>
          </a:solidFill>
          <a:ln w="12700">
            <a:solidFill>
              <a:srgbClr val="DBE3DF"/>
            </a:solidFill>
            <a:prstDash val="solid"/>
          </a:ln>
        </p:spPr>
        <p:txBody>
          <a:bodyPr/>
          <a:lstStyle/>
          <a:p>
            <a:endParaRPr lang="en-MY"/>
          </a:p>
        </p:txBody>
      </p:sp>
      <p:sp>
        <p:nvSpPr>
          <p:cNvPr id="19" name="Shape 16"/>
          <p:cNvSpPr/>
          <p:nvPr/>
        </p:nvSpPr>
        <p:spPr>
          <a:xfrm>
            <a:off x="5586984" y="1463040"/>
            <a:ext cx="73152" cy="320040"/>
          </a:xfrm>
          <a:prstGeom prst="rect">
            <a:avLst/>
          </a:prstGeom>
          <a:solidFill>
            <a:srgbClr val="0F8A5F"/>
          </a:solidFill>
          <a:ln w="12700">
            <a:solidFill>
              <a:srgbClr val="0F8A5F"/>
            </a:solidFill>
            <a:prstDash val="solid"/>
          </a:ln>
        </p:spPr>
        <p:txBody>
          <a:bodyPr/>
          <a:lstStyle/>
          <a:p>
            <a:endParaRPr lang="en-MY"/>
          </a:p>
        </p:txBody>
      </p:sp>
      <p:sp>
        <p:nvSpPr>
          <p:cNvPr id="20" name="Text 17"/>
          <p:cNvSpPr txBox="1"/>
          <p:nvPr/>
        </p:nvSpPr>
        <p:spPr>
          <a:xfrm>
            <a:off x="5724144" y="1417320"/>
            <a:ext cx="1161288" cy="411480"/>
          </a:xfrm>
          <a:prstGeom prst="rect">
            <a:avLst/>
          </a:prstGeom>
          <a:noFill/>
          <a:ln/>
        </p:spPr>
        <p:txBody>
          <a:bodyPr wrap="square" lIns="0" tIns="0" rIns="0" bIns="0" rtlCol="0" anchor="ctr"/>
          <a:lstStyle/>
          <a:p>
            <a:pPr marL="0" indent="0">
              <a:buNone/>
            </a:pPr>
            <a:r>
              <a:rPr lang="en-US" sz="1300" b="1" dirty="0">
                <a:solidFill>
                  <a:srgbClr val="0B3D2E"/>
                </a:solidFill>
                <a:latin typeface="Calibri" pitchFamily="34" charset="0"/>
                <a:ea typeface="Calibri" pitchFamily="34" charset="-122"/>
                <a:cs typeface="Calibri" pitchFamily="34" charset="-120"/>
              </a:rPr>
              <a:t>Agentic actions</a:t>
            </a:r>
            <a:endParaRPr lang="en-US" sz="1300" dirty="0"/>
          </a:p>
        </p:txBody>
      </p:sp>
      <p:sp>
        <p:nvSpPr>
          <p:cNvPr id="21" name="Text 18"/>
          <p:cNvSpPr txBox="1"/>
          <p:nvPr/>
        </p:nvSpPr>
        <p:spPr>
          <a:xfrm>
            <a:off x="5632704" y="1920240"/>
            <a:ext cx="1207008" cy="2331720"/>
          </a:xfrm>
          <a:prstGeom prst="rect">
            <a:avLst/>
          </a:prstGeom>
          <a:noFill/>
          <a:ln/>
        </p:spPr>
        <p:txBody>
          <a:bodyPr wrap="square" lIns="0" tIns="0" rIns="0" bIns="0" rtlCol="0" anchor="t"/>
          <a:lstStyle/>
          <a:p>
            <a:pPr marL="0" indent="0">
              <a:buNone/>
            </a:pPr>
            <a:r>
              <a:rPr lang="en-US" sz="1200" dirty="0">
                <a:solidFill>
                  <a:srgbClr val="14211C"/>
                </a:solidFill>
                <a:latin typeface="Calibri" pitchFamily="34" charset="0"/>
                <a:ea typeface="Calibri" pitchFamily="34" charset="-122"/>
                <a:cs typeface="Calibri" pitchFamily="34" charset="-120"/>
              </a:rPr>
              <a:t>Reminders, clinic request, report a broken light</a:t>
            </a:r>
            <a:endParaRPr lang="en-US" sz="1200" dirty="0"/>
          </a:p>
        </p:txBody>
      </p:sp>
      <p:sp>
        <p:nvSpPr>
          <p:cNvPr id="22" name="Shape 19"/>
          <p:cNvSpPr/>
          <p:nvPr/>
        </p:nvSpPr>
        <p:spPr>
          <a:xfrm>
            <a:off x="7114032" y="1325880"/>
            <a:ext cx="1572768" cy="3017520"/>
          </a:xfrm>
          <a:prstGeom prst="roundRect">
            <a:avLst>
              <a:gd name="adj" fmla="val 5814"/>
            </a:avLst>
          </a:prstGeom>
          <a:solidFill>
            <a:srgbClr val="FFFFFF"/>
          </a:solidFill>
          <a:ln w="12700">
            <a:solidFill>
              <a:srgbClr val="DBE3DF"/>
            </a:solidFill>
            <a:prstDash val="solid"/>
          </a:ln>
        </p:spPr>
        <p:txBody>
          <a:bodyPr/>
          <a:lstStyle/>
          <a:p>
            <a:endParaRPr lang="en-MY"/>
          </a:p>
        </p:txBody>
      </p:sp>
      <p:sp>
        <p:nvSpPr>
          <p:cNvPr id="23" name="Shape 20"/>
          <p:cNvSpPr/>
          <p:nvPr/>
        </p:nvSpPr>
        <p:spPr>
          <a:xfrm>
            <a:off x="7251192" y="1463040"/>
            <a:ext cx="73152" cy="320040"/>
          </a:xfrm>
          <a:prstGeom prst="rect">
            <a:avLst/>
          </a:prstGeom>
          <a:solidFill>
            <a:srgbClr val="0F8A5F"/>
          </a:solidFill>
          <a:ln w="12700">
            <a:solidFill>
              <a:srgbClr val="0F8A5F"/>
            </a:solidFill>
            <a:prstDash val="solid"/>
          </a:ln>
        </p:spPr>
        <p:txBody>
          <a:bodyPr/>
          <a:lstStyle/>
          <a:p>
            <a:endParaRPr lang="en-MY"/>
          </a:p>
        </p:txBody>
      </p:sp>
      <p:sp>
        <p:nvSpPr>
          <p:cNvPr id="24" name="Text 21"/>
          <p:cNvSpPr txBox="1"/>
          <p:nvPr/>
        </p:nvSpPr>
        <p:spPr>
          <a:xfrm>
            <a:off x="7388352" y="1417320"/>
            <a:ext cx="1161288" cy="411480"/>
          </a:xfrm>
          <a:prstGeom prst="rect">
            <a:avLst/>
          </a:prstGeom>
          <a:noFill/>
          <a:ln/>
        </p:spPr>
        <p:txBody>
          <a:bodyPr wrap="square" lIns="0" tIns="0" rIns="0" bIns="0" rtlCol="0" anchor="ctr"/>
          <a:lstStyle/>
          <a:p>
            <a:pPr marL="0" indent="0">
              <a:buNone/>
            </a:pPr>
            <a:r>
              <a:rPr lang="en-US" sz="1300" b="1" dirty="0">
                <a:solidFill>
                  <a:srgbClr val="0B3D2E"/>
                </a:solidFill>
                <a:latin typeface="Calibri" pitchFamily="34" charset="0"/>
                <a:ea typeface="Calibri" pitchFamily="34" charset="-122"/>
                <a:cs typeface="Calibri" pitchFamily="34" charset="-120"/>
              </a:rPr>
              <a:t>Township Insights</a:t>
            </a:r>
            <a:endParaRPr lang="en-US" sz="1300" dirty="0"/>
          </a:p>
        </p:txBody>
      </p:sp>
      <p:sp>
        <p:nvSpPr>
          <p:cNvPr id="25" name="Text 22"/>
          <p:cNvSpPr txBox="1"/>
          <p:nvPr/>
        </p:nvSpPr>
        <p:spPr>
          <a:xfrm>
            <a:off x="7296912" y="1920240"/>
            <a:ext cx="1207008" cy="2331720"/>
          </a:xfrm>
          <a:prstGeom prst="rect">
            <a:avLst/>
          </a:prstGeom>
          <a:noFill/>
          <a:ln/>
        </p:spPr>
        <p:txBody>
          <a:bodyPr wrap="square" lIns="0" tIns="0" rIns="0" bIns="0" rtlCol="0" anchor="t"/>
          <a:lstStyle/>
          <a:p>
            <a:pPr marL="0" indent="0">
              <a:buNone/>
            </a:pPr>
            <a:r>
              <a:rPr lang="en-US" sz="1200" dirty="0">
                <a:solidFill>
                  <a:srgbClr val="14211C"/>
                </a:solidFill>
                <a:latin typeface="Calibri" pitchFamily="34" charset="0"/>
                <a:ea typeface="Calibri" pitchFamily="34" charset="-122"/>
                <a:cs typeface="Calibri" pitchFamily="34" charset="-120"/>
              </a:rPr>
              <a:t>Anonymised data shows where to add shade, lighting, programmes</a:t>
            </a:r>
            <a:endParaRPr lang="en-US" sz="1200" dirty="0"/>
          </a:p>
        </p:txBody>
      </p:sp>
      <p:pic>
        <p:nvPicPr>
          <p:cNvPr id="26" name="Picture 25">
            <a:extLst>
              <a:ext uri="{FF2B5EF4-FFF2-40B4-BE49-F238E27FC236}">
                <a16:creationId xmlns:a16="http://schemas.microsoft.com/office/drawing/2014/main" id="{78ECDF08-5450-8ECE-AB81-2FF634420354}"/>
              </a:ext>
            </a:extLst>
          </p:cNvPr>
          <p:cNvPicPr>
            <a:picLocks noChangeAspect="1"/>
          </p:cNvPicPr>
          <p:nvPr/>
        </p:nvPicPr>
        <p:blipFill>
          <a:blip r:embed="rId3"/>
          <a:stretch>
            <a:fillRect/>
          </a:stretch>
        </p:blipFill>
        <p:spPr>
          <a:xfrm>
            <a:off x="7595235" y="219347"/>
            <a:ext cx="1000125" cy="7239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7"/>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0B3D2E"/>
                </a:solidFill>
                <a:latin typeface="Calibri" pitchFamily="34" charset="0"/>
                <a:ea typeface="Calibri" pitchFamily="34" charset="-122"/>
                <a:cs typeface="Calibri" pitchFamily="34" charset="-120"/>
              </a:rPr>
              <a:t>4. Innovation</a:t>
            </a:r>
            <a:endParaRPr lang="en-US" sz="2800" dirty="0"/>
          </a:p>
        </p:txBody>
      </p:sp>
      <p:sp>
        <p:nvSpPr>
          <p:cNvPr id="3" name="Text 1"/>
          <p:cNvSpPr txBox="1"/>
          <p:nvPr/>
        </p:nvSpPr>
        <p:spPr>
          <a:xfrm>
            <a:off x="457200" y="777240"/>
            <a:ext cx="8229600" cy="320040"/>
          </a:xfrm>
          <a:prstGeom prst="rect">
            <a:avLst/>
          </a:prstGeom>
          <a:noFill/>
          <a:ln/>
        </p:spPr>
        <p:txBody>
          <a:bodyPr wrap="square" lIns="0" tIns="0" rIns="0" bIns="0" rtlCol="0" anchor="ctr"/>
          <a:lstStyle/>
          <a:p>
            <a:pPr marL="0" indent="0">
              <a:buNone/>
            </a:pPr>
            <a:r>
              <a:rPr lang="en-US" sz="1400" i="1" dirty="0">
                <a:solidFill>
                  <a:srgbClr val="5B6B64"/>
                </a:solidFill>
                <a:latin typeface="Calibri" pitchFamily="34" charset="0"/>
                <a:ea typeface="Calibri" pitchFamily="34" charset="-122"/>
                <a:cs typeface="Calibri" pitchFamily="34" charset="-120"/>
              </a:rPr>
              <a:t>What makes it different</a:t>
            </a:r>
            <a:endParaRPr lang="en-US" sz="1400" dirty="0"/>
          </a:p>
        </p:txBody>
      </p:sp>
      <p:sp>
        <p:nvSpPr>
          <p:cNvPr id="5" name="Text 2"/>
          <p:cNvSpPr txBox="1"/>
          <p:nvPr/>
        </p:nvSpPr>
        <p:spPr>
          <a:xfrm>
            <a:off x="457200" y="4828032"/>
            <a:ext cx="2743200" cy="201168"/>
          </a:xfrm>
          <a:prstGeom prst="rect">
            <a:avLst/>
          </a:prstGeom>
          <a:noFill/>
          <a:ln/>
        </p:spPr>
        <p:txBody>
          <a:bodyPr wrap="square" lIns="0" tIns="0" rIns="0" bIns="0" rtlCol="0" anchor="ctr"/>
          <a:lstStyle/>
          <a:p>
            <a:pPr marL="0" indent="0">
              <a:buNone/>
            </a:pPr>
            <a:r>
              <a:rPr lang="en-US" sz="1000" dirty="0">
                <a:solidFill>
                  <a:srgbClr val="5B6B64"/>
                </a:solidFill>
                <a:latin typeface="Calibri" pitchFamily="34" charset="0"/>
                <a:ea typeface="Calibri" pitchFamily="34" charset="-122"/>
                <a:cs typeface="Calibri" pitchFamily="34" charset="-120"/>
              </a:rPr>
              <a:t>SikLemau</a:t>
            </a:r>
            <a:endParaRPr lang="en-US" sz="1000" dirty="0"/>
          </a:p>
        </p:txBody>
      </p:sp>
      <p:sp>
        <p:nvSpPr>
          <p:cNvPr id="6" name="Shape 3"/>
          <p:cNvSpPr/>
          <p:nvPr/>
        </p:nvSpPr>
        <p:spPr>
          <a:xfrm>
            <a:off x="457200" y="1280160"/>
            <a:ext cx="2606040" cy="2651760"/>
          </a:xfrm>
          <a:prstGeom prst="roundRect">
            <a:avLst>
              <a:gd name="adj" fmla="val 3509"/>
            </a:avLst>
          </a:prstGeom>
          <a:solidFill>
            <a:srgbClr val="FFFFFF"/>
          </a:solidFill>
          <a:ln w="12700">
            <a:solidFill>
              <a:srgbClr val="DBE3DF"/>
            </a:solidFill>
            <a:prstDash val="solid"/>
          </a:ln>
        </p:spPr>
        <p:txBody>
          <a:bodyPr/>
          <a:lstStyle/>
          <a:p>
            <a:endParaRPr lang="en-MY"/>
          </a:p>
        </p:txBody>
      </p:sp>
      <p:sp>
        <p:nvSpPr>
          <p:cNvPr id="7" name="Shape 4"/>
          <p:cNvSpPr/>
          <p:nvPr/>
        </p:nvSpPr>
        <p:spPr>
          <a:xfrm>
            <a:off x="594360" y="1417320"/>
            <a:ext cx="73152" cy="320040"/>
          </a:xfrm>
          <a:prstGeom prst="rect">
            <a:avLst/>
          </a:prstGeom>
          <a:solidFill>
            <a:srgbClr val="0F8A5F"/>
          </a:solidFill>
          <a:ln w="12700">
            <a:solidFill>
              <a:srgbClr val="0F8A5F"/>
            </a:solidFill>
            <a:prstDash val="solid"/>
          </a:ln>
        </p:spPr>
        <p:txBody>
          <a:bodyPr/>
          <a:lstStyle/>
          <a:p>
            <a:endParaRPr lang="en-MY"/>
          </a:p>
        </p:txBody>
      </p:sp>
      <p:sp>
        <p:nvSpPr>
          <p:cNvPr id="8" name="Text 5"/>
          <p:cNvSpPr txBox="1"/>
          <p:nvPr/>
        </p:nvSpPr>
        <p:spPr>
          <a:xfrm>
            <a:off x="731520" y="1371600"/>
            <a:ext cx="2194560" cy="411480"/>
          </a:xfrm>
          <a:prstGeom prst="rect">
            <a:avLst/>
          </a:prstGeom>
          <a:noFill/>
          <a:ln/>
        </p:spPr>
        <p:txBody>
          <a:bodyPr wrap="square" lIns="0" tIns="0" rIns="0" bIns="0" rtlCol="0" anchor="ctr"/>
          <a:lstStyle/>
          <a:p>
            <a:pPr marL="0" indent="0">
              <a:buNone/>
            </a:pPr>
            <a:r>
              <a:rPr lang="en-US" sz="1500" b="1" dirty="0">
                <a:solidFill>
                  <a:srgbClr val="0B3D2E"/>
                </a:solidFill>
                <a:latin typeface="Calibri" pitchFamily="34" charset="0"/>
                <a:ea typeface="Calibri" pitchFamily="34" charset="-122"/>
                <a:cs typeface="Calibri" pitchFamily="34" charset="-120"/>
              </a:rPr>
              <a:t>Proactive</a:t>
            </a:r>
            <a:endParaRPr lang="en-US" sz="1500" dirty="0"/>
          </a:p>
        </p:txBody>
      </p:sp>
      <p:sp>
        <p:nvSpPr>
          <p:cNvPr id="9" name="Text 6"/>
          <p:cNvSpPr txBox="1"/>
          <p:nvPr/>
        </p:nvSpPr>
        <p:spPr>
          <a:xfrm>
            <a:off x="640080" y="1874520"/>
            <a:ext cx="2240280" cy="1965960"/>
          </a:xfrm>
          <a:prstGeom prst="rect">
            <a:avLst/>
          </a:prstGeom>
          <a:noFill/>
          <a:ln/>
        </p:spPr>
        <p:txBody>
          <a:bodyPr wrap="square" lIns="0" tIns="0" rIns="0" bIns="0" rtlCol="0" anchor="t"/>
          <a:lstStyle/>
          <a:p>
            <a:pPr marL="0" indent="0">
              <a:buNone/>
            </a:pPr>
            <a:r>
              <a:rPr lang="en-US" sz="1250" dirty="0">
                <a:solidFill>
                  <a:srgbClr val="14211C"/>
                </a:solidFill>
                <a:latin typeface="Calibri" pitchFamily="34" charset="0"/>
                <a:ea typeface="Calibri" pitchFamily="34" charset="-122"/>
                <a:cs typeface="Calibri" pitchFamily="34" charset="-120"/>
              </a:rPr>
              <a:t>The agent checks in, acts and escalates. It does not wait to be asked.</a:t>
            </a:r>
            <a:endParaRPr lang="en-US" sz="1250" dirty="0"/>
          </a:p>
        </p:txBody>
      </p:sp>
      <p:sp>
        <p:nvSpPr>
          <p:cNvPr id="10" name="Shape 7"/>
          <p:cNvSpPr/>
          <p:nvPr/>
        </p:nvSpPr>
        <p:spPr>
          <a:xfrm>
            <a:off x="3268980" y="1280160"/>
            <a:ext cx="2606040" cy="2651760"/>
          </a:xfrm>
          <a:prstGeom prst="roundRect">
            <a:avLst>
              <a:gd name="adj" fmla="val 3509"/>
            </a:avLst>
          </a:prstGeom>
          <a:solidFill>
            <a:srgbClr val="FFFFFF"/>
          </a:solidFill>
          <a:ln w="12700">
            <a:solidFill>
              <a:srgbClr val="DBE3DF"/>
            </a:solidFill>
            <a:prstDash val="solid"/>
          </a:ln>
        </p:spPr>
        <p:txBody>
          <a:bodyPr/>
          <a:lstStyle/>
          <a:p>
            <a:endParaRPr lang="en-MY"/>
          </a:p>
        </p:txBody>
      </p:sp>
      <p:sp>
        <p:nvSpPr>
          <p:cNvPr id="11" name="Shape 8"/>
          <p:cNvSpPr/>
          <p:nvPr/>
        </p:nvSpPr>
        <p:spPr>
          <a:xfrm>
            <a:off x="3406140" y="1417320"/>
            <a:ext cx="73152" cy="320040"/>
          </a:xfrm>
          <a:prstGeom prst="rect">
            <a:avLst/>
          </a:prstGeom>
          <a:solidFill>
            <a:srgbClr val="0F8A5F"/>
          </a:solidFill>
          <a:ln w="12700">
            <a:solidFill>
              <a:srgbClr val="0F8A5F"/>
            </a:solidFill>
            <a:prstDash val="solid"/>
          </a:ln>
        </p:spPr>
        <p:txBody>
          <a:bodyPr/>
          <a:lstStyle/>
          <a:p>
            <a:endParaRPr lang="en-MY"/>
          </a:p>
        </p:txBody>
      </p:sp>
      <p:sp>
        <p:nvSpPr>
          <p:cNvPr id="12" name="Text 9"/>
          <p:cNvSpPr txBox="1"/>
          <p:nvPr/>
        </p:nvSpPr>
        <p:spPr>
          <a:xfrm>
            <a:off x="3543300" y="1371600"/>
            <a:ext cx="2194560" cy="411480"/>
          </a:xfrm>
          <a:prstGeom prst="rect">
            <a:avLst/>
          </a:prstGeom>
          <a:noFill/>
          <a:ln/>
        </p:spPr>
        <p:txBody>
          <a:bodyPr wrap="square" lIns="0" tIns="0" rIns="0" bIns="0" rtlCol="0" anchor="ctr"/>
          <a:lstStyle/>
          <a:p>
            <a:pPr marL="0" indent="0">
              <a:buNone/>
            </a:pPr>
            <a:r>
              <a:rPr lang="en-US" sz="1500" b="1" dirty="0">
                <a:solidFill>
                  <a:srgbClr val="0B3D2E"/>
                </a:solidFill>
                <a:latin typeface="Calibri" pitchFamily="34" charset="0"/>
                <a:ea typeface="Calibri" pitchFamily="34" charset="-122"/>
                <a:cs typeface="Calibri" pitchFamily="34" charset="-120"/>
              </a:rPr>
              <a:t>Township-aware</a:t>
            </a:r>
            <a:endParaRPr lang="en-US" sz="1500" dirty="0"/>
          </a:p>
        </p:txBody>
      </p:sp>
      <p:sp>
        <p:nvSpPr>
          <p:cNvPr id="13" name="Text 10"/>
          <p:cNvSpPr txBox="1"/>
          <p:nvPr/>
        </p:nvSpPr>
        <p:spPr>
          <a:xfrm>
            <a:off x="3451860" y="1874520"/>
            <a:ext cx="2240280" cy="1965960"/>
          </a:xfrm>
          <a:prstGeom prst="rect">
            <a:avLst/>
          </a:prstGeom>
          <a:noFill/>
          <a:ln/>
        </p:spPr>
        <p:txBody>
          <a:bodyPr wrap="square" lIns="0" tIns="0" rIns="0" bIns="0" rtlCol="0" anchor="t"/>
          <a:lstStyle/>
          <a:p>
            <a:pPr marL="0" indent="0">
              <a:buNone/>
            </a:pPr>
            <a:r>
              <a:rPr lang="en-US" sz="1250" dirty="0">
                <a:solidFill>
                  <a:srgbClr val="14211C"/>
                </a:solidFill>
                <a:latin typeface="Calibri" pitchFamily="34" charset="0"/>
                <a:ea typeface="Calibri" pitchFamily="34" charset="-122"/>
                <a:cs typeface="Calibri" pitchFamily="34" charset="-120"/>
              </a:rPr>
              <a:t>Uses real parks, tracks, food stalls, clinics and guardhouses of one community.</a:t>
            </a:r>
            <a:endParaRPr lang="en-US" sz="1250" dirty="0"/>
          </a:p>
        </p:txBody>
      </p:sp>
      <p:sp>
        <p:nvSpPr>
          <p:cNvPr id="14" name="Shape 11"/>
          <p:cNvSpPr/>
          <p:nvPr/>
        </p:nvSpPr>
        <p:spPr>
          <a:xfrm>
            <a:off x="6080760" y="1280160"/>
            <a:ext cx="2606040" cy="2651760"/>
          </a:xfrm>
          <a:prstGeom prst="roundRect">
            <a:avLst>
              <a:gd name="adj" fmla="val 3509"/>
            </a:avLst>
          </a:prstGeom>
          <a:solidFill>
            <a:srgbClr val="FFFFFF"/>
          </a:solidFill>
          <a:ln w="12700">
            <a:solidFill>
              <a:srgbClr val="DBE3DF"/>
            </a:solidFill>
            <a:prstDash val="solid"/>
          </a:ln>
        </p:spPr>
        <p:txBody>
          <a:bodyPr/>
          <a:lstStyle/>
          <a:p>
            <a:endParaRPr lang="en-MY"/>
          </a:p>
        </p:txBody>
      </p:sp>
      <p:sp>
        <p:nvSpPr>
          <p:cNvPr id="15" name="Shape 12"/>
          <p:cNvSpPr/>
          <p:nvPr/>
        </p:nvSpPr>
        <p:spPr>
          <a:xfrm>
            <a:off x="6217920" y="1417320"/>
            <a:ext cx="73152" cy="320040"/>
          </a:xfrm>
          <a:prstGeom prst="rect">
            <a:avLst/>
          </a:prstGeom>
          <a:solidFill>
            <a:srgbClr val="0F8A5F"/>
          </a:solidFill>
          <a:ln w="12700">
            <a:solidFill>
              <a:srgbClr val="0F8A5F"/>
            </a:solidFill>
            <a:prstDash val="solid"/>
          </a:ln>
        </p:spPr>
        <p:txBody>
          <a:bodyPr/>
          <a:lstStyle/>
          <a:p>
            <a:endParaRPr lang="en-MY"/>
          </a:p>
        </p:txBody>
      </p:sp>
      <p:sp>
        <p:nvSpPr>
          <p:cNvPr id="16" name="Text 13"/>
          <p:cNvSpPr txBox="1"/>
          <p:nvPr/>
        </p:nvSpPr>
        <p:spPr>
          <a:xfrm>
            <a:off x="6355080" y="1371600"/>
            <a:ext cx="2194560" cy="411480"/>
          </a:xfrm>
          <a:prstGeom prst="rect">
            <a:avLst/>
          </a:prstGeom>
          <a:noFill/>
          <a:ln/>
        </p:spPr>
        <p:txBody>
          <a:bodyPr wrap="square" lIns="0" tIns="0" rIns="0" bIns="0" rtlCol="0" anchor="ctr"/>
          <a:lstStyle/>
          <a:p>
            <a:pPr marL="0" indent="0">
              <a:buNone/>
            </a:pPr>
            <a:r>
              <a:rPr lang="en-US" sz="1500" b="1" dirty="0">
                <a:solidFill>
                  <a:srgbClr val="0B3D2E"/>
                </a:solidFill>
                <a:latin typeface="Calibri" pitchFamily="34" charset="0"/>
                <a:ea typeface="Calibri" pitchFamily="34" charset="-122"/>
                <a:cs typeface="Calibri" pitchFamily="34" charset="-120"/>
              </a:rPr>
              <a:t>Community-based</a:t>
            </a:r>
            <a:endParaRPr lang="en-US" sz="1500" dirty="0"/>
          </a:p>
        </p:txBody>
      </p:sp>
      <p:sp>
        <p:nvSpPr>
          <p:cNvPr id="17" name="Text 14"/>
          <p:cNvSpPr txBox="1"/>
          <p:nvPr/>
        </p:nvSpPr>
        <p:spPr>
          <a:xfrm>
            <a:off x="6263640" y="1874520"/>
            <a:ext cx="2240280" cy="1965960"/>
          </a:xfrm>
          <a:prstGeom prst="rect">
            <a:avLst/>
          </a:prstGeom>
          <a:noFill/>
          <a:ln/>
        </p:spPr>
        <p:txBody>
          <a:bodyPr wrap="square" lIns="0" tIns="0" rIns="0" bIns="0" rtlCol="0" anchor="t"/>
          <a:lstStyle/>
          <a:p>
            <a:pPr marL="0" indent="0">
              <a:buNone/>
            </a:pPr>
            <a:r>
              <a:rPr lang="en-US" sz="1250" dirty="0">
                <a:solidFill>
                  <a:srgbClr val="14211C"/>
                </a:solidFill>
                <a:latin typeface="Calibri" pitchFamily="34" charset="0"/>
                <a:ea typeface="Calibri" pitchFamily="34" charset="-122"/>
                <a:cs typeface="Calibri" pitchFamily="34" charset="-120"/>
              </a:rPr>
              <a:t>Neighbours are part of the solution, with consent at every step.</a:t>
            </a:r>
            <a:endParaRPr lang="en-US" sz="1250" dirty="0"/>
          </a:p>
        </p:txBody>
      </p:sp>
      <p:sp>
        <p:nvSpPr>
          <p:cNvPr id="18" name="Text 15"/>
          <p:cNvSpPr txBox="1"/>
          <p:nvPr/>
        </p:nvSpPr>
        <p:spPr>
          <a:xfrm>
            <a:off x="457200" y="4114800"/>
            <a:ext cx="8229600" cy="640080"/>
          </a:xfrm>
          <a:prstGeom prst="rect">
            <a:avLst/>
          </a:prstGeom>
          <a:noFill/>
          <a:ln/>
        </p:spPr>
        <p:txBody>
          <a:bodyPr wrap="square" lIns="0" tIns="0" rIns="0" bIns="0" rtlCol="0" anchor="ctr"/>
          <a:lstStyle/>
          <a:p>
            <a:pPr marL="0" indent="0">
              <a:buNone/>
            </a:pPr>
            <a:r>
              <a:rPr lang="en-US" sz="1400" dirty="0">
                <a:solidFill>
                  <a:srgbClr val="14211C"/>
                </a:solidFill>
                <a:latin typeface="Calibri" pitchFamily="34" charset="0"/>
                <a:ea typeface="Calibri" pitchFamily="34" charset="-122"/>
                <a:cs typeface="Calibri" pitchFamily="34" charset="-120"/>
              </a:rPr>
              <a:t>Closes the loop for the developer: resident behaviour becomes facility decisions. Builds on MOH guidance (MyNutriDiari 2, Malaysian Healthy Plate) with a conversational layer.</a:t>
            </a:r>
            <a:endParaRPr lang="en-US" sz="1400" dirty="0"/>
          </a:p>
        </p:txBody>
      </p:sp>
      <p:pic>
        <p:nvPicPr>
          <p:cNvPr id="19" name="Picture 18">
            <a:extLst>
              <a:ext uri="{FF2B5EF4-FFF2-40B4-BE49-F238E27FC236}">
                <a16:creationId xmlns:a16="http://schemas.microsoft.com/office/drawing/2014/main" id="{A5113CCF-AF05-EA3A-3792-F018F8E4BA99}"/>
              </a:ext>
            </a:extLst>
          </p:cNvPr>
          <p:cNvPicPr>
            <a:picLocks noChangeAspect="1"/>
          </p:cNvPicPr>
          <p:nvPr/>
        </p:nvPicPr>
        <p:blipFill>
          <a:blip r:embed="rId3"/>
          <a:stretch>
            <a:fillRect/>
          </a:stretch>
        </p:blipFill>
        <p:spPr>
          <a:xfrm>
            <a:off x="7595235" y="219347"/>
            <a:ext cx="1000125" cy="7239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7"/>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0B3D2E"/>
                </a:solidFill>
                <a:latin typeface="Calibri" pitchFamily="34" charset="0"/>
                <a:ea typeface="Calibri" pitchFamily="34" charset="-122"/>
                <a:cs typeface="Calibri" pitchFamily="34" charset="-120"/>
              </a:rPr>
              <a:t>5. How it Works</a:t>
            </a:r>
            <a:endParaRPr lang="en-US" sz="2800" dirty="0"/>
          </a:p>
        </p:txBody>
      </p:sp>
      <p:sp>
        <p:nvSpPr>
          <p:cNvPr id="4" name="Text 1"/>
          <p:cNvSpPr txBox="1"/>
          <p:nvPr/>
        </p:nvSpPr>
        <p:spPr>
          <a:xfrm>
            <a:off x="457200" y="4828032"/>
            <a:ext cx="2743200" cy="201168"/>
          </a:xfrm>
          <a:prstGeom prst="rect">
            <a:avLst/>
          </a:prstGeom>
          <a:noFill/>
          <a:ln/>
        </p:spPr>
        <p:txBody>
          <a:bodyPr wrap="square" lIns="0" tIns="0" rIns="0" bIns="0" rtlCol="0" anchor="ctr"/>
          <a:lstStyle/>
          <a:p>
            <a:pPr marL="0" indent="0">
              <a:buNone/>
            </a:pPr>
            <a:r>
              <a:rPr lang="en-US" sz="1000" dirty="0">
                <a:solidFill>
                  <a:srgbClr val="5B6B64"/>
                </a:solidFill>
                <a:latin typeface="Calibri" pitchFamily="34" charset="0"/>
                <a:ea typeface="Calibri" pitchFamily="34" charset="-122"/>
                <a:cs typeface="Calibri" pitchFamily="34" charset="-120"/>
              </a:rPr>
              <a:t>SikLemau</a:t>
            </a:r>
            <a:endParaRPr lang="en-US" sz="1000" dirty="0"/>
          </a:p>
        </p:txBody>
      </p:sp>
      <p:sp>
        <p:nvSpPr>
          <p:cNvPr id="5" name="Shape 2"/>
          <p:cNvSpPr/>
          <p:nvPr/>
        </p:nvSpPr>
        <p:spPr>
          <a:xfrm>
            <a:off x="457200" y="1097280"/>
            <a:ext cx="1874520" cy="2103120"/>
          </a:xfrm>
          <a:prstGeom prst="roundRect">
            <a:avLst>
              <a:gd name="adj" fmla="val 4878"/>
            </a:avLst>
          </a:prstGeom>
          <a:solidFill>
            <a:srgbClr val="FFFFFF"/>
          </a:solidFill>
          <a:ln w="12700">
            <a:solidFill>
              <a:srgbClr val="DBE3DF"/>
            </a:solidFill>
            <a:prstDash val="solid"/>
          </a:ln>
        </p:spPr>
        <p:txBody>
          <a:bodyPr/>
          <a:lstStyle/>
          <a:p>
            <a:endParaRPr lang="en-MY"/>
          </a:p>
        </p:txBody>
      </p:sp>
      <p:sp>
        <p:nvSpPr>
          <p:cNvPr id="6" name="Shape 3"/>
          <p:cNvSpPr/>
          <p:nvPr/>
        </p:nvSpPr>
        <p:spPr>
          <a:xfrm>
            <a:off x="594360" y="1234440"/>
            <a:ext cx="73152" cy="320040"/>
          </a:xfrm>
          <a:prstGeom prst="rect">
            <a:avLst/>
          </a:prstGeom>
          <a:solidFill>
            <a:srgbClr val="0F8A5F"/>
          </a:solidFill>
          <a:ln w="12700">
            <a:solidFill>
              <a:srgbClr val="0F8A5F"/>
            </a:solidFill>
            <a:prstDash val="solid"/>
          </a:ln>
        </p:spPr>
        <p:txBody>
          <a:bodyPr/>
          <a:lstStyle/>
          <a:p>
            <a:endParaRPr lang="en-MY"/>
          </a:p>
        </p:txBody>
      </p:sp>
      <p:sp>
        <p:nvSpPr>
          <p:cNvPr id="7" name="Text 4"/>
          <p:cNvSpPr txBox="1"/>
          <p:nvPr/>
        </p:nvSpPr>
        <p:spPr>
          <a:xfrm>
            <a:off x="731520" y="1188720"/>
            <a:ext cx="1463040" cy="411480"/>
          </a:xfrm>
          <a:prstGeom prst="rect">
            <a:avLst/>
          </a:prstGeom>
          <a:noFill/>
          <a:ln/>
        </p:spPr>
        <p:txBody>
          <a:bodyPr wrap="square" lIns="0" tIns="0" rIns="0" bIns="0" rtlCol="0" anchor="ctr"/>
          <a:lstStyle/>
          <a:p>
            <a:pPr marL="0" indent="0">
              <a:buNone/>
            </a:pPr>
            <a:r>
              <a:rPr lang="en-US" sz="1400" b="1" dirty="0">
                <a:solidFill>
                  <a:srgbClr val="0B3D2E"/>
                </a:solidFill>
                <a:latin typeface="Calibri" pitchFamily="34" charset="0"/>
                <a:ea typeface="Calibri" pitchFamily="34" charset="-122"/>
                <a:cs typeface="Calibri" pitchFamily="34" charset="-120"/>
              </a:rPr>
              <a:t>Resident</a:t>
            </a:r>
            <a:endParaRPr lang="en-US" sz="1400" dirty="0"/>
          </a:p>
        </p:txBody>
      </p:sp>
      <p:sp>
        <p:nvSpPr>
          <p:cNvPr id="8" name="Text 5"/>
          <p:cNvSpPr txBox="1"/>
          <p:nvPr/>
        </p:nvSpPr>
        <p:spPr>
          <a:xfrm>
            <a:off x="640080" y="1691640"/>
            <a:ext cx="1508760" cy="1417320"/>
          </a:xfrm>
          <a:prstGeom prst="rect">
            <a:avLst/>
          </a:prstGeom>
          <a:noFill/>
          <a:ln/>
        </p:spPr>
        <p:txBody>
          <a:bodyPr wrap="square" lIns="0" tIns="0" rIns="0" bIns="0" rtlCol="0" anchor="t"/>
          <a:lstStyle/>
          <a:p>
            <a:pPr marL="0" indent="0">
              <a:buNone/>
            </a:pPr>
            <a:r>
              <a:rPr lang="en-US" sz="1250" dirty="0">
                <a:solidFill>
                  <a:srgbClr val="14211C"/>
                </a:solidFill>
                <a:latin typeface="Calibri" pitchFamily="34" charset="0"/>
                <a:ea typeface="Calibri" pitchFamily="34" charset="-122"/>
                <a:cs typeface="Calibri" pitchFamily="34" charset="-120"/>
              </a:rPr>
              <a:t>Telegram (WhatsApp or township app later)</a:t>
            </a:r>
            <a:endParaRPr lang="en-US" sz="1250" dirty="0"/>
          </a:p>
        </p:txBody>
      </p:sp>
      <p:sp>
        <p:nvSpPr>
          <p:cNvPr id="9" name="Text 6"/>
          <p:cNvSpPr txBox="1"/>
          <p:nvPr/>
        </p:nvSpPr>
        <p:spPr>
          <a:xfrm>
            <a:off x="2304288" y="1828800"/>
            <a:ext cx="274320" cy="365760"/>
          </a:xfrm>
          <a:prstGeom prst="rect">
            <a:avLst/>
          </a:prstGeom>
          <a:noFill/>
          <a:ln/>
        </p:spPr>
        <p:txBody>
          <a:bodyPr wrap="square" lIns="0" tIns="0" rIns="0" bIns="0" rtlCol="0" anchor="ctr"/>
          <a:lstStyle/>
          <a:p>
            <a:pPr marL="0" indent="0">
              <a:buNone/>
            </a:pPr>
            <a:r>
              <a:rPr lang="en-US" sz="2000" b="1" dirty="0">
                <a:solidFill>
                  <a:srgbClr val="0F8A5F"/>
                </a:solidFill>
                <a:latin typeface="Calibri" pitchFamily="34" charset="0"/>
                <a:ea typeface="Calibri" pitchFamily="34" charset="-122"/>
                <a:cs typeface="Calibri" pitchFamily="34" charset="-120"/>
              </a:rPr>
              <a:t>→</a:t>
            </a:r>
            <a:endParaRPr lang="en-US" sz="2000" dirty="0"/>
          </a:p>
        </p:txBody>
      </p:sp>
      <p:sp>
        <p:nvSpPr>
          <p:cNvPr id="10" name="Shape 7"/>
          <p:cNvSpPr/>
          <p:nvPr/>
        </p:nvSpPr>
        <p:spPr>
          <a:xfrm>
            <a:off x="2542032" y="1097280"/>
            <a:ext cx="1874520" cy="2103120"/>
          </a:xfrm>
          <a:prstGeom prst="roundRect">
            <a:avLst>
              <a:gd name="adj" fmla="val 4878"/>
            </a:avLst>
          </a:prstGeom>
          <a:solidFill>
            <a:srgbClr val="FFFFFF"/>
          </a:solidFill>
          <a:ln w="12700">
            <a:solidFill>
              <a:srgbClr val="DBE3DF"/>
            </a:solidFill>
            <a:prstDash val="solid"/>
          </a:ln>
        </p:spPr>
        <p:txBody>
          <a:bodyPr/>
          <a:lstStyle/>
          <a:p>
            <a:endParaRPr lang="en-MY"/>
          </a:p>
        </p:txBody>
      </p:sp>
      <p:sp>
        <p:nvSpPr>
          <p:cNvPr id="11" name="Shape 8"/>
          <p:cNvSpPr/>
          <p:nvPr/>
        </p:nvSpPr>
        <p:spPr>
          <a:xfrm>
            <a:off x="2679192" y="1234440"/>
            <a:ext cx="73152" cy="320040"/>
          </a:xfrm>
          <a:prstGeom prst="rect">
            <a:avLst/>
          </a:prstGeom>
          <a:solidFill>
            <a:srgbClr val="0F8A5F"/>
          </a:solidFill>
          <a:ln w="12700">
            <a:solidFill>
              <a:srgbClr val="0F8A5F"/>
            </a:solidFill>
            <a:prstDash val="solid"/>
          </a:ln>
        </p:spPr>
        <p:txBody>
          <a:bodyPr/>
          <a:lstStyle/>
          <a:p>
            <a:endParaRPr lang="en-MY"/>
          </a:p>
        </p:txBody>
      </p:sp>
      <p:sp>
        <p:nvSpPr>
          <p:cNvPr id="12" name="Text 9"/>
          <p:cNvSpPr txBox="1"/>
          <p:nvPr/>
        </p:nvSpPr>
        <p:spPr>
          <a:xfrm>
            <a:off x="2816352" y="1188720"/>
            <a:ext cx="1463040" cy="411480"/>
          </a:xfrm>
          <a:prstGeom prst="rect">
            <a:avLst/>
          </a:prstGeom>
          <a:noFill/>
          <a:ln/>
        </p:spPr>
        <p:txBody>
          <a:bodyPr wrap="square" lIns="0" tIns="0" rIns="0" bIns="0" rtlCol="0" anchor="ctr"/>
          <a:lstStyle/>
          <a:p>
            <a:pPr marL="0" indent="0">
              <a:buNone/>
            </a:pPr>
            <a:r>
              <a:rPr lang="en-US" sz="1400" b="1" dirty="0">
                <a:solidFill>
                  <a:srgbClr val="0B3D2E"/>
                </a:solidFill>
                <a:latin typeface="Calibri" pitchFamily="34" charset="0"/>
                <a:ea typeface="Calibri" pitchFamily="34" charset="-122"/>
                <a:cs typeface="Calibri" pitchFamily="34" charset="-120"/>
              </a:rPr>
              <a:t>AI agent</a:t>
            </a:r>
            <a:endParaRPr lang="en-US" sz="1400" dirty="0"/>
          </a:p>
        </p:txBody>
      </p:sp>
      <p:sp>
        <p:nvSpPr>
          <p:cNvPr id="13" name="Text 10"/>
          <p:cNvSpPr txBox="1"/>
          <p:nvPr/>
        </p:nvSpPr>
        <p:spPr>
          <a:xfrm>
            <a:off x="2724912" y="1691640"/>
            <a:ext cx="1508760" cy="1417320"/>
          </a:xfrm>
          <a:prstGeom prst="rect">
            <a:avLst/>
          </a:prstGeom>
          <a:noFill/>
          <a:ln/>
        </p:spPr>
        <p:txBody>
          <a:bodyPr wrap="square" lIns="0" tIns="0" rIns="0" bIns="0" rtlCol="0" anchor="t"/>
          <a:lstStyle/>
          <a:p>
            <a:pPr marL="0" indent="0">
              <a:buNone/>
            </a:pPr>
            <a:r>
              <a:rPr lang="en-US" sz="1250" dirty="0">
                <a:solidFill>
                  <a:srgbClr val="14211C"/>
                </a:solidFill>
                <a:latin typeface="Calibri" pitchFamily="34" charset="0"/>
                <a:ea typeface="Calibri" pitchFamily="34" charset="-122"/>
                <a:cs typeface="Calibri" pitchFamily="34" charset="-120"/>
              </a:rPr>
              <a:t>Tools: check_in, escalate, find_buddy, report_issue, get_air_quality</a:t>
            </a:r>
            <a:endParaRPr lang="en-US" sz="1250" dirty="0"/>
          </a:p>
        </p:txBody>
      </p:sp>
      <p:sp>
        <p:nvSpPr>
          <p:cNvPr id="14" name="Text 11"/>
          <p:cNvSpPr txBox="1"/>
          <p:nvPr/>
        </p:nvSpPr>
        <p:spPr>
          <a:xfrm>
            <a:off x="4389120" y="1828800"/>
            <a:ext cx="274320" cy="365760"/>
          </a:xfrm>
          <a:prstGeom prst="rect">
            <a:avLst/>
          </a:prstGeom>
          <a:noFill/>
          <a:ln/>
        </p:spPr>
        <p:txBody>
          <a:bodyPr wrap="square" lIns="0" tIns="0" rIns="0" bIns="0" rtlCol="0" anchor="ctr"/>
          <a:lstStyle/>
          <a:p>
            <a:pPr marL="0" indent="0">
              <a:buNone/>
            </a:pPr>
            <a:r>
              <a:rPr lang="en-US" sz="2000" b="1" dirty="0">
                <a:solidFill>
                  <a:srgbClr val="0F8A5F"/>
                </a:solidFill>
                <a:latin typeface="Calibri" pitchFamily="34" charset="0"/>
                <a:ea typeface="Calibri" pitchFamily="34" charset="-122"/>
                <a:cs typeface="Calibri" pitchFamily="34" charset="-120"/>
              </a:rPr>
              <a:t>→</a:t>
            </a:r>
            <a:endParaRPr lang="en-US" sz="2000" dirty="0"/>
          </a:p>
        </p:txBody>
      </p:sp>
      <p:sp>
        <p:nvSpPr>
          <p:cNvPr id="15" name="Shape 12"/>
          <p:cNvSpPr/>
          <p:nvPr/>
        </p:nvSpPr>
        <p:spPr>
          <a:xfrm>
            <a:off x="4626864" y="1097280"/>
            <a:ext cx="1874520" cy="2103120"/>
          </a:xfrm>
          <a:prstGeom prst="roundRect">
            <a:avLst>
              <a:gd name="adj" fmla="val 4878"/>
            </a:avLst>
          </a:prstGeom>
          <a:solidFill>
            <a:srgbClr val="FFFFFF"/>
          </a:solidFill>
          <a:ln w="12700">
            <a:solidFill>
              <a:srgbClr val="DBE3DF"/>
            </a:solidFill>
            <a:prstDash val="solid"/>
          </a:ln>
        </p:spPr>
        <p:txBody>
          <a:bodyPr/>
          <a:lstStyle/>
          <a:p>
            <a:endParaRPr lang="en-MY"/>
          </a:p>
        </p:txBody>
      </p:sp>
      <p:sp>
        <p:nvSpPr>
          <p:cNvPr id="16" name="Shape 13"/>
          <p:cNvSpPr/>
          <p:nvPr/>
        </p:nvSpPr>
        <p:spPr>
          <a:xfrm>
            <a:off x="4764024" y="1234440"/>
            <a:ext cx="73152" cy="320040"/>
          </a:xfrm>
          <a:prstGeom prst="rect">
            <a:avLst/>
          </a:prstGeom>
          <a:solidFill>
            <a:srgbClr val="0F8A5F"/>
          </a:solidFill>
          <a:ln w="12700">
            <a:solidFill>
              <a:srgbClr val="0F8A5F"/>
            </a:solidFill>
            <a:prstDash val="solid"/>
          </a:ln>
        </p:spPr>
        <p:txBody>
          <a:bodyPr/>
          <a:lstStyle/>
          <a:p>
            <a:endParaRPr lang="en-MY"/>
          </a:p>
        </p:txBody>
      </p:sp>
      <p:sp>
        <p:nvSpPr>
          <p:cNvPr id="17" name="Text 14"/>
          <p:cNvSpPr txBox="1"/>
          <p:nvPr/>
        </p:nvSpPr>
        <p:spPr>
          <a:xfrm>
            <a:off x="4901184" y="1188720"/>
            <a:ext cx="1463040" cy="411480"/>
          </a:xfrm>
          <a:prstGeom prst="rect">
            <a:avLst/>
          </a:prstGeom>
          <a:noFill/>
          <a:ln/>
        </p:spPr>
        <p:txBody>
          <a:bodyPr wrap="square" lIns="0" tIns="0" rIns="0" bIns="0" rtlCol="0" anchor="ctr"/>
          <a:lstStyle/>
          <a:p>
            <a:pPr marL="0" indent="0">
              <a:buNone/>
            </a:pPr>
            <a:r>
              <a:rPr lang="en-US" sz="1400" b="1" dirty="0">
                <a:solidFill>
                  <a:srgbClr val="0B3D2E"/>
                </a:solidFill>
                <a:latin typeface="Calibri" pitchFamily="34" charset="0"/>
                <a:ea typeface="Calibri" pitchFamily="34" charset="-122"/>
                <a:cs typeface="Calibri" pitchFamily="34" charset="-120"/>
              </a:rPr>
              <a:t>Scheduler and data</a:t>
            </a:r>
            <a:endParaRPr lang="en-US" sz="1400" dirty="0"/>
          </a:p>
        </p:txBody>
      </p:sp>
      <p:sp>
        <p:nvSpPr>
          <p:cNvPr id="18" name="Text 15"/>
          <p:cNvSpPr txBox="1"/>
          <p:nvPr/>
        </p:nvSpPr>
        <p:spPr>
          <a:xfrm>
            <a:off x="4809744" y="1691640"/>
            <a:ext cx="1508760" cy="1417320"/>
          </a:xfrm>
          <a:prstGeom prst="rect">
            <a:avLst/>
          </a:prstGeom>
          <a:noFill/>
          <a:ln/>
        </p:spPr>
        <p:txBody>
          <a:bodyPr wrap="square" lIns="0" tIns="0" rIns="0" bIns="0" rtlCol="0" anchor="t"/>
          <a:lstStyle/>
          <a:p>
            <a:pPr marL="0" indent="0">
              <a:buNone/>
            </a:pPr>
            <a:r>
              <a:rPr lang="en-US" sz="1250" dirty="0">
                <a:solidFill>
                  <a:srgbClr val="14211C"/>
                </a:solidFill>
                <a:latin typeface="Calibri" pitchFamily="34" charset="0"/>
                <a:ea typeface="Calibri" pitchFamily="34" charset="-122"/>
                <a:cs typeface="Calibri" pitchFamily="34" charset="-120"/>
              </a:rPr>
              <a:t>Escalation timers, consent, circles, events</a:t>
            </a:r>
            <a:endParaRPr lang="en-US" sz="1250" dirty="0"/>
          </a:p>
        </p:txBody>
      </p:sp>
      <p:sp>
        <p:nvSpPr>
          <p:cNvPr id="19" name="Text 16"/>
          <p:cNvSpPr txBox="1"/>
          <p:nvPr/>
        </p:nvSpPr>
        <p:spPr>
          <a:xfrm>
            <a:off x="6473952" y="1828800"/>
            <a:ext cx="274320" cy="365760"/>
          </a:xfrm>
          <a:prstGeom prst="rect">
            <a:avLst/>
          </a:prstGeom>
          <a:noFill/>
          <a:ln/>
        </p:spPr>
        <p:txBody>
          <a:bodyPr wrap="square" lIns="0" tIns="0" rIns="0" bIns="0" rtlCol="0" anchor="ctr"/>
          <a:lstStyle/>
          <a:p>
            <a:pPr marL="0" indent="0">
              <a:buNone/>
            </a:pPr>
            <a:r>
              <a:rPr lang="en-US" sz="2000" b="1" dirty="0">
                <a:solidFill>
                  <a:srgbClr val="0F8A5F"/>
                </a:solidFill>
                <a:latin typeface="Calibri" pitchFamily="34" charset="0"/>
                <a:ea typeface="Calibri" pitchFamily="34" charset="-122"/>
                <a:cs typeface="Calibri" pitchFamily="34" charset="-120"/>
              </a:rPr>
              <a:t>→</a:t>
            </a:r>
            <a:endParaRPr lang="en-US" sz="2000" dirty="0"/>
          </a:p>
        </p:txBody>
      </p:sp>
      <p:sp>
        <p:nvSpPr>
          <p:cNvPr id="20" name="Shape 17"/>
          <p:cNvSpPr/>
          <p:nvPr/>
        </p:nvSpPr>
        <p:spPr>
          <a:xfrm>
            <a:off x="6711696" y="1097280"/>
            <a:ext cx="1874520" cy="2103120"/>
          </a:xfrm>
          <a:prstGeom prst="roundRect">
            <a:avLst>
              <a:gd name="adj" fmla="val 4878"/>
            </a:avLst>
          </a:prstGeom>
          <a:solidFill>
            <a:srgbClr val="FFFFFF"/>
          </a:solidFill>
          <a:ln w="12700">
            <a:solidFill>
              <a:srgbClr val="DBE3DF"/>
            </a:solidFill>
            <a:prstDash val="solid"/>
          </a:ln>
        </p:spPr>
        <p:txBody>
          <a:bodyPr/>
          <a:lstStyle/>
          <a:p>
            <a:endParaRPr lang="en-MY"/>
          </a:p>
        </p:txBody>
      </p:sp>
      <p:sp>
        <p:nvSpPr>
          <p:cNvPr id="21" name="Shape 18"/>
          <p:cNvSpPr/>
          <p:nvPr/>
        </p:nvSpPr>
        <p:spPr>
          <a:xfrm>
            <a:off x="6848856" y="1234440"/>
            <a:ext cx="73152" cy="320040"/>
          </a:xfrm>
          <a:prstGeom prst="rect">
            <a:avLst/>
          </a:prstGeom>
          <a:solidFill>
            <a:srgbClr val="0F8A5F"/>
          </a:solidFill>
          <a:ln w="12700">
            <a:solidFill>
              <a:srgbClr val="0F8A5F"/>
            </a:solidFill>
            <a:prstDash val="solid"/>
          </a:ln>
        </p:spPr>
        <p:txBody>
          <a:bodyPr/>
          <a:lstStyle/>
          <a:p>
            <a:endParaRPr lang="en-MY"/>
          </a:p>
        </p:txBody>
      </p:sp>
      <p:sp>
        <p:nvSpPr>
          <p:cNvPr id="22" name="Text 19"/>
          <p:cNvSpPr txBox="1"/>
          <p:nvPr/>
        </p:nvSpPr>
        <p:spPr>
          <a:xfrm>
            <a:off x="6986016" y="1188720"/>
            <a:ext cx="1463040" cy="411480"/>
          </a:xfrm>
          <a:prstGeom prst="rect">
            <a:avLst/>
          </a:prstGeom>
          <a:noFill/>
          <a:ln/>
        </p:spPr>
        <p:txBody>
          <a:bodyPr wrap="square" lIns="0" tIns="0" rIns="0" bIns="0" rtlCol="0" anchor="ctr"/>
          <a:lstStyle/>
          <a:p>
            <a:pPr marL="0" indent="0">
              <a:buNone/>
            </a:pPr>
            <a:r>
              <a:rPr lang="en-US" sz="1400" b="1" dirty="0">
                <a:solidFill>
                  <a:srgbClr val="0B3D2E"/>
                </a:solidFill>
                <a:latin typeface="Calibri" pitchFamily="34" charset="0"/>
                <a:ea typeface="Calibri" pitchFamily="34" charset="-122"/>
                <a:cs typeface="Calibri" pitchFamily="34" charset="-120"/>
              </a:rPr>
              <a:t>Insights dashboard</a:t>
            </a:r>
            <a:endParaRPr lang="en-US" sz="1400" dirty="0"/>
          </a:p>
        </p:txBody>
      </p:sp>
      <p:sp>
        <p:nvSpPr>
          <p:cNvPr id="23" name="Text 20"/>
          <p:cNvSpPr txBox="1"/>
          <p:nvPr/>
        </p:nvSpPr>
        <p:spPr>
          <a:xfrm>
            <a:off x="6894576" y="1691640"/>
            <a:ext cx="1508760" cy="1417320"/>
          </a:xfrm>
          <a:prstGeom prst="rect">
            <a:avLst/>
          </a:prstGeom>
          <a:noFill/>
          <a:ln/>
        </p:spPr>
        <p:txBody>
          <a:bodyPr wrap="square" lIns="0" tIns="0" rIns="0" bIns="0" rtlCol="0" anchor="t"/>
          <a:lstStyle/>
          <a:p>
            <a:pPr marL="0" indent="0">
              <a:buNone/>
            </a:pPr>
            <a:r>
              <a:rPr lang="en-US" sz="1250" dirty="0">
                <a:solidFill>
                  <a:srgbClr val="14211C"/>
                </a:solidFill>
                <a:latin typeface="Calibri" pitchFamily="34" charset="0"/>
                <a:ea typeface="Calibri" pitchFamily="34" charset="-122"/>
                <a:cs typeface="Calibri" pitchFamily="34" charset="-120"/>
              </a:rPr>
              <a:t>Anonymised heatmap and recommended actions</a:t>
            </a:r>
            <a:endParaRPr lang="en-US" sz="1250" dirty="0"/>
          </a:p>
        </p:txBody>
      </p:sp>
      <p:sp>
        <p:nvSpPr>
          <p:cNvPr id="24" name="Text 21"/>
          <p:cNvSpPr txBox="1"/>
          <p:nvPr/>
        </p:nvSpPr>
        <p:spPr>
          <a:xfrm>
            <a:off x="457200" y="3474720"/>
            <a:ext cx="8229600" cy="365760"/>
          </a:xfrm>
          <a:prstGeom prst="rect">
            <a:avLst/>
          </a:prstGeom>
          <a:noFill/>
          <a:ln/>
        </p:spPr>
        <p:txBody>
          <a:bodyPr wrap="square" lIns="0" tIns="0" rIns="0" bIns="0" rtlCol="0" anchor="ctr"/>
          <a:lstStyle/>
          <a:p>
            <a:pPr marL="0" indent="0">
              <a:buNone/>
            </a:pPr>
            <a:r>
              <a:rPr lang="en-US" sz="1400" b="1" dirty="0">
                <a:solidFill>
                  <a:srgbClr val="0B3D2E"/>
                </a:solidFill>
                <a:latin typeface="Calibri" pitchFamily="34" charset="0"/>
                <a:ea typeface="Calibri" pitchFamily="34" charset="-122"/>
                <a:cs typeface="Calibri" pitchFamily="34" charset="-120"/>
              </a:rPr>
              <a:t>Check-in ladder: 08:00 check-in → 08:05 reminder → 08:20 neighbour → 08:35 guardhouse → 08:40 family</a:t>
            </a:r>
            <a:endParaRPr lang="en-US" sz="1400" dirty="0"/>
          </a:p>
        </p:txBody>
      </p:sp>
      <p:sp>
        <p:nvSpPr>
          <p:cNvPr id="25" name="Text 22"/>
          <p:cNvSpPr txBox="1"/>
          <p:nvPr/>
        </p:nvSpPr>
        <p:spPr>
          <a:xfrm>
            <a:off x="457200" y="3931920"/>
            <a:ext cx="8229600" cy="548640"/>
          </a:xfrm>
          <a:prstGeom prst="rect">
            <a:avLst/>
          </a:prstGeom>
          <a:noFill/>
          <a:ln/>
        </p:spPr>
        <p:txBody>
          <a:bodyPr wrap="square" lIns="0" tIns="0" rIns="0" bIns="0" rtlCol="0" anchor="ctr"/>
          <a:lstStyle/>
          <a:p>
            <a:pPr marL="0" indent="0">
              <a:buNone/>
            </a:pPr>
            <a:r>
              <a:rPr lang="en-US" sz="1300" dirty="0">
                <a:solidFill>
                  <a:srgbClr val="5B6B64"/>
                </a:solidFill>
                <a:latin typeface="Calibri" pitchFamily="34" charset="0"/>
                <a:ea typeface="Calibri" pitchFamily="34" charset="-122"/>
                <a:cs typeface="Calibri" pitchFamily="34" charset="-120"/>
              </a:rPr>
              <a:t>Every contact is chosen by the resident and has consented. Each township is a configuration pack (map, facilities, volunteers).</a:t>
            </a:r>
            <a:endParaRPr lang="en-US" sz="1300" dirty="0"/>
          </a:p>
        </p:txBody>
      </p:sp>
      <p:pic>
        <p:nvPicPr>
          <p:cNvPr id="26" name="Picture 25">
            <a:extLst>
              <a:ext uri="{FF2B5EF4-FFF2-40B4-BE49-F238E27FC236}">
                <a16:creationId xmlns:a16="http://schemas.microsoft.com/office/drawing/2014/main" id="{7BF0ABBB-3DF4-BDAB-F48C-715B5D24991A}"/>
              </a:ext>
            </a:extLst>
          </p:cNvPr>
          <p:cNvPicPr>
            <a:picLocks noChangeAspect="1"/>
          </p:cNvPicPr>
          <p:nvPr/>
        </p:nvPicPr>
        <p:blipFill>
          <a:blip r:embed="rId3"/>
          <a:stretch>
            <a:fillRect/>
          </a:stretch>
        </p:blipFill>
        <p:spPr>
          <a:xfrm>
            <a:off x="7595235" y="219347"/>
            <a:ext cx="1000125" cy="7239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7"/>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0B3D2E"/>
                </a:solidFill>
                <a:latin typeface="Calibri" pitchFamily="34" charset="0"/>
                <a:ea typeface="Calibri" pitchFamily="34" charset="-122"/>
                <a:cs typeface="Calibri" pitchFamily="34" charset="-120"/>
              </a:rPr>
              <a:t>6. Impact</a:t>
            </a:r>
            <a:endParaRPr lang="en-US" sz="2800" dirty="0"/>
          </a:p>
        </p:txBody>
      </p:sp>
      <p:sp>
        <p:nvSpPr>
          <p:cNvPr id="3" name="Text 1"/>
          <p:cNvSpPr txBox="1"/>
          <p:nvPr/>
        </p:nvSpPr>
        <p:spPr>
          <a:xfrm>
            <a:off x="457200" y="777240"/>
            <a:ext cx="8229600" cy="320040"/>
          </a:xfrm>
          <a:prstGeom prst="rect">
            <a:avLst/>
          </a:prstGeom>
          <a:noFill/>
          <a:ln/>
        </p:spPr>
        <p:txBody>
          <a:bodyPr wrap="square" lIns="0" tIns="0" rIns="0" bIns="0" rtlCol="0" anchor="ctr"/>
          <a:lstStyle/>
          <a:p>
            <a:pPr marL="0" indent="0">
              <a:buNone/>
            </a:pPr>
            <a:r>
              <a:rPr lang="en-US" sz="1400" i="1" dirty="0">
                <a:solidFill>
                  <a:srgbClr val="5B6B64"/>
                </a:solidFill>
                <a:latin typeface="Calibri" pitchFamily="34" charset="0"/>
                <a:ea typeface="Calibri" pitchFamily="34" charset="-122"/>
                <a:cs typeface="Calibri" pitchFamily="34" charset="-120"/>
              </a:rPr>
              <a:t>Who benefits and what outcomes we aim for</a:t>
            </a:r>
            <a:endParaRPr lang="en-US" sz="1400" dirty="0"/>
          </a:p>
        </p:txBody>
      </p:sp>
      <p:sp>
        <p:nvSpPr>
          <p:cNvPr id="5" name="Text 2"/>
          <p:cNvSpPr txBox="1"/>
          <p:nvPr/>
        </p:nvSpPr>
        <p:spPr>
          <a:xfrm>
            <a:off x="457200" y="4828032"/>
            <a:ext cx="2743200" cy="201168"/>
          </a:xfrm>
          <a:prstGeom prst="rect">
            <a:avLst/>
          </a:prstGeom>
          <a:noFill/>
          <a:ln/>
        </p:spPr>
        <p:txBody>
          <a:bodyPr wrap="square" lIns="0" tIns="0" rIns="0" bIns="0" rtlCol="0" anchor="ctr"/>
          <a:lstStyle/>
          <a:p>
            <a:pPr marL="0" indent="0">
              <a:buNone/>
            </a:pPr>
            <a:r>
              <a:rPr lang="en-US" sz="1000" dirty="0">
                <a:solidFill>
                  <a:srgbClr val="5B6B64"/>
                </a:solidFill>
                <a:latin typeface="Calibri" pitchFamily="34" charset="0"/>
                <a:ea typeface="Calibri" pitchFamily="34" charset="-122"/>
                <a:cs typeface="Calibri" pitchFamily="34" charset="-120"/>
              </a:rPr>
              <a:t>SikLemau</a:t>
            </a:r>
            <a:endParaRPr lang="en-US" sz="1000" dirty="0"/>
          </a:p>
        </p:txBody>
      </p:sp>
      <p:sp>
        <p:nvSpPr>
          <p:cNvPr id="6" name="Shape 3"/>
          <p:cNvSpPr/>
          <p:nvPr/>
        </p:nvSpPr>
        <p:spPr>
          <a:xfrm>
            <a:off x="457200" y="1280160"/>
            <a:ext cx="1920240" cy="2286000"/>
          </a:xfrm>
          <a:prstGeom prst="roundRect">
            <a:avLst>
              <a:gd name="adj" fmla="val 4762"/>
            </a:avLst>
          </a:prstGeom>
          <a:solidFill>
            <a:srgbClr val="FFFFFF"/>
          </a:solidFill>
          <a:ln w="12700">
            <a:solidFill>
              <a:srgbClr val="DBE3DF"/>
            </a:solidFill>
            <a:prstDash val="solid"/>
          </a:ln>
        </p:spPr>
        <p:txBody>
          <a:bodyPr/>
          <a:lstStyle/>
          <a:p>
            <a:endParaRPr lang="en-MY"/>
          </a:p>
        </p:txBody>
      </p:sp>
      <p:sp>
        <p:nvSpPr>
          <p:cNvPr id="7" name="Shape 4"/>
          <p:cNvSpPr/>
          <p:nvPr/>
        </p:nvSpPr>
        <p:spPr>
          <a:xfrm>
            <a:off x="594360" y="1417320"/>
            <a:ext cx="73152" cy="320040"/>
          </a:xfrm>
          <a:prstGeom prst="rect">
            <a:avLst/>
          </a:prstGeom>
          <a:solidFill>
            <a:srgbClr val="0F8A5F"/>
          </a:solidFill>
          <a:ln w="12700">
            <a:solidFill>
              <a:srgbClr val="0F8A5F"/>
            </a:solidFill>
            <a:prstDash val="solid"/>
          </a:ln>
        </p:spPr>
        <p:txBody>
          <a:bodyPr/>
          <a:lstStyle/>
          <a:p>
            <a:endParaRPr lang="en-MY"/>
          </a:p>
        </p:txBody>
      </p:sp>
      <p:sp>
        <p:nvSpPr>
          <p:cNvPr id="8" name="Text 5"/>
          <p:cNvSpPr txBox="1"/>
          <p:nvPr/>
        </p:nvSpPr>
        <p:spPr>
          <a:xfrm>
            <a:off x="731520" y="1371600"/>
            <a:ext cx="1508760" cy="411480"/>
          </a:xfrm>
          <a:prstGeom prst="rect">
            <a:avLst/>
          </a:prstGeom>
          <a:noFill/>
          <a:ln/>
        </p:spPr>
        <p:txBody>
          <a:bodyPr wrap="square" lIns="0" tIns="0" rIns="0" bIns="0" rtlCol="0" anchor="ctr"/>
          <a:lstStyle/>
          <a:p>
            <a:pPr marL="0" indent="0">
              <a:buNone/>
            </a:pPr>
            <a:r>
              <a:rPr lang="en-US" sz="1400" b="1" dirty="0">
                <a:solidFill>
                  <a:srgbClr val="0B3D2E"/>
                </a:solidFill>
                <a:latin typeface="Calibri" pitchFamily="34" charset="0"/>
                <a:ea typeface="Calibri" pitchFamily="34" charset="-122"/>
                <a:cs typeface="Calibri" pitchFamily="34" charset="-120"/>
              </a:rPr>
              <a:t>Residents</a:t>
            </a:r>
            <a:endParaRPr lang="en-US" sz="1400" dirty="0"/>
          </a:p>
        </p:txBody>
      </p:sp>
      <p:sp>
        <p:nvSpPr>
          <p:cNvPr id="9" name="Text 6"/>
          <p:cNvSpPr txBox="1"/>
          <p:nvPr/>
        </p:nvSpPr>
        <p:spPr>
          <a:xfrm>
            <a:off x="640080" y="1874520"/>
            <a:ext cx="1554480" cy="1600200"/>
          </a:xfrm>
          <a:prstGeom prst="rect">
            <a:avLst/>
          </a:prstGeom>
          <a:noFill/>
          <a:ln/>
        </p:spPr>
        <p:txBody>
          <a:bodyPr wrap="square" lIns="0" tIns="0" rIns="0" bIns="0" rtlCol="0" anchor="t"/>
          <a:lstStyle/>
          <a:p>
            <a:pPr marL="0" indent="0">
              <a:buNone/>
            </a:pPr>
            <a:r>
              <a:rPr lang="en-US" sz="1250" dirty="0">
                <a:solidFill>
                  <a:srgbClr val="14211C"/>
                </a:solidFill>
                <a:latin typeface="Calibri" pitchFamily="34" charset="0"/>
                <a:ea typeface="Calibri" pitchFamily="34" charset="-122"/>
                <a:cs typeface="Calibri" pitchFamily="34" charset="-120"/>
              </a:rPr>
              <a:t>Earlier help, healthier routines, less loneliness.</a:t>
            </a:r>
            <a:endParaRPr lang="en-US" sz="1250" dirty="0"/>
          </a:p>
        </p:txBody>
      </p:sp>
      <p:sp>
        <p:nvSpPr>
          <p:cNvPr id="10" name="Shape 7"/>
          <p:cNvSpPr/>
          <p:nvPr/>
        </p:nvSpPr>
        <p:spPr>
          <a:xfrm>
            <a:off x="2491740" y="1280160"/>
            <a:ext cx="1920240" cy="2286000"/>
          </a:xfrm>
          <a:prstGeom prst="roundRect">
            <a:avLst>
              <a:gd name="adj" fmla="val 4762"/>
            </a:avLst>
          </a:prstGeom>
          <a:solidFill>
            <a:srgbClr val="FFFFFF"/>
          </a:solidFill>
          <a:ln w="12700">
            <a:solidFill>
              <a:srgbClr val="DBE3DF"/>
            </a:solidFill>
            <a:prstDash val="solid"/>
          </a:ln>
        </p:spPr>
        <p:txBody>
          <a:bodyPr/>
          <a:lstStyle/>
          <a:p>
            <a:endParaRPr lang="en-MY"/>
          </a:p>
        </p:txBody>
      </p:sp>
      <p:sp>
        <p:nvSpPr>
          <p:cNvPr id="11" name="Shape 8"/>
          <p:cNvSpPr/>
          <p:nvPr/>
        </p:nvSpPr>
        <p:spPr>
          <a:xfrm>
            <a:off x="2628900" y="1417320"/>
            <a:ext cx="73152" cy="320040"/>
          </a:xfrm>
          <a:prstGeom prst="rect">
            <a:avLst/>
          </a:prstGeom>
          <a:solidFill>
            <a:srgbClr val="0F8A5F"/>
          </a:solidFill>
          <a:ln w="12700">
            <a:solidFill>
              <a:srgbClr val="0F8A5F"/>
            </a:solidFill>
            <a:prstDash val="solid"/>
          </a:ln>
        </p:spPr>
        <p:txBody>
          <a:bodyPr/>
          <a:lstStyle/>
          <a:p>
            <a:endParaRPr lang="en-MY"/>
          </a:p>
        </p:txBody>
      </p:sp>
      <p:sp>
        <p:nvSpPr>
          <p:cNvPr id="12" name="Text 9"/>
          <p:cNvSpPr txBox="1"/>
          <p:nvPr/>
        </p:nvSpPr>
        <p:spPr>
          <a:xfrm>
            <a:off x="2766060" y="1371600"/>
            <a:ext cx="1508760" cy="411480"/>
          </a:xfrm>
          <a:prstGeom prst="rect">
            <a:avLst/>
          </a:prstGeom>
          <a:noFill/>
          <a:ln/>
        </p:spPr>
        <p:txBody>
          <a:bodyPr wrap="square" lIns="0" tIns="0" rIns="0" bIns="0" rtlCol="0" anchor="ctr"/>
          <a:lstStyle/>
          <a:p>
            <a:pPr marL="0" indent="0">
              <a:buNone/>
            </a:pPr>
            <a:r>
              <a:rPr lang="en-US" sz="1400" b="1" dirty="0">
                <a:solidFill>
                  <a:srgbClr val="0B3D2E"/>
                </a:solidFill>
                <a:latin typeface="Calibri" pitchFamily="34" charset="0"/>
                <a:ea typeface="Calibri" pitchFamily="34" charset="-122"/>
                <a:cs typeface="Calibri" pitchFamily="34" charset="-120"/>
              </a:rPr>
              <a:t>Families</a:t>
            </a:r>
            <a:endParaRPr lang="en-US" sz="1400" dirty="0"/>
          </a:p>
        </p:txBody>
      </p:sp>
      <p:sp>
        <p:nvSpPr>
          <p:cNvPr id="13" name="Text 10"/>
          <p:cNvSpPr txBox="1"/>
          <p:nvPr/>
        </p:nvSpPr>
        <p:spPr>
          <a:xfrm>
            <a:off x="2674620" y="1874520"/>
            <a:ext cx="1554480" cy="1600200"/>
          </a:xfrm>
          <a:prstGeom prst="rect">
            <a:avLst/>
          </a:prstGeom>
          <a:noFill/>
          <a:ln/>
        </p:spPr>
        <p:txBody>
          <a:bodyPr wrap="square" lIns="0" tIns="0" rIns="0" bIns="0" rtlCol="0" anchor="t"/>
          <a:lstStyle/>
          <a:p>
            <a:pPr marL="0" indent="0">
              <a:buNone/>
            </a:pPr>
            <a:r>
              <a:rPr lang="en-US" sz="1250" dirty="0">
                <a:solidFill>
                  <a:srgbClr val="14211C"/>
                </a:solidFill>
                <a:latin typeface="Calibri" pitchFamily="34" charset="0"/>
                <a:ea typeface="Calibri" pitchFamily="34" charset="-122"/>
                <a:cs typeface="Calibri" pitchFamily="34" charset="-120"/>
              </a:rPr>
              <a:t>Peace of mind with contextual alerts.</a:t>
            </a:r>
            <a:endParaRPr lang="en-US" sz="1250" dirty="0"/>
          </a:p>
        </p:txBody>
      </p:sp>
      <p:sp>
        <p:nvSpPr>
          <p:cNvPr id="14" name="Shape 11"/>
          <p:cNvSpPr/>
          <p:nvPr/>
        </p:nvSpPr>
        <p:spPr>
          <a:xfrm>
            <a:off x="4526280" y="1280160"/>
            <a:ext cx="1920240" cy="2286000"/>
          </a:xfrm>
          <a:prstGeom prst="roundRect">
            <a:avLst>
              <a:gd name="adj" fmla="val 4762"/>
            </a:avLst>
          </a:prstGeom>
          <a:solidFill>
            <a:srgbClr val="FFFFFF"/>
          </a:solidFill>
          <a:ln w="12700">
            <a:solidFill>
              <a:srgbClr val="DBE3DF"/>
            </a:solidFill>
            <a:prstDash val="solid"/>
          </a:ln>
        </p:spPr>
        <p:txBody>
          <a:bodyPr/>
          <a:lstStyle/>
          <a:p>
            <a:endParaRPr lang="en-MY"/>
          </a:p>
        </p:txBody>
      </p:sp>
      <p:sp>
        <p:nvSpPr>
          <p:cNvPr id="15" name="Shape 12"/>
          <p:cNvSpPr/>
          <p:nvPr/>
        </p:nvSpPr>
        <p:spPr>
          <a:xfrm>
            <a:off x="4663440" y="1417320"/>
            <a:ext cx="73152" cy="320040"/>
          </a:xfrm>
          <a:prstGeom prst="rect">
            <a:avLst/>
          </a:prstGeom>
          <a:solidFill>
            <a:srgbClr val="0F8A5F"/>
          </a:solidFill>
          <a:ln w="12700">
            <a:solidFill>
              <a:srgbClr val="0F8A5F"/>
            </a:solidFill>
            <a:prstDash val="solid"/>
          </a:ln>
        </p:spPr>
        <p:txBody>
          <a:bodyPr/>
          <a:lstStyle/>
          <a:p>
            <a:endParaRPr lang="en-MY"/>
          </a:p>
        </p:txBody>
      </p:sp>
      <p:sp>
        <p:nvSpPr>
          <p:cNvPr id="16" name="Text 13"/>
          <p:cNvSpPr txBox="1"/>
          <p:nvPr/>
        </p:nvSpPr>
        <p:spPr>
          <a:xfrm>
            <a:off x="4800600" y="1371600"/>
            <a:ext cx="1508760" cy="411480"/>
          </a:xfrm>
          <a:prstGeom prst="rect">
            <a:avLst/>
          </a:prstGeom>
          <a:noFill/>
          <a:ln/>
        </p:spPr>
        <p:txBody>
          <a:bodyPr wrap="square" lIns="0" tIns="0" rIns="0" bIns="0" rtlCol="0" anchor="ctr"/>
          <a:lstStyle/>
          <a:p>
            <a:pPr marL="0" indent="0">
              <a:buNone/>
            </a:pPr>
            <a:r>
              <a:rPr lang="en-US" sz="1400" b="1" dirty="0">
                <a:solidFill>
                  <a:srgbClr val="0B3D2E"/>
                </a:solidFill>
                <a:latin typeface="Calibri" pitchFamily="34" charset="0"/>
                <a:ea typeface="Calibri" pitchFamily="34" charset="-122"/>
                <a:cs typeface="Calibri" pitchFamily="34" charset="-120"/>
              </a:rPr>
              <a:t>Management</a:t>
            </a:r>
            <a:endParaRPr lang="en-US" sz="1400" dirty="0"/>
          </a:p>
        </p:txBody>
      </p:sp>
      <p:sp>
        <p:nvSpPr>
          <p:cNvPr id="17" name="Text 14"/>
          <p:cNvSpPr txBox="1"/>
          <p:nvPr/>
        </p:nvSpPr>
        <p:spPr>
          <a:xfrm>
            <a:off x="4709160" y="1874520"/>
            <a:ext cx="1554480" cy="1600200"/>
          </a:xfrm>
          <a:prstGeom prst="rect">
            <a:avLst/>
          </a:prstGeom>
          <a:noFill/>
          <a:ln/>
        </p:spPr>
        <p:txBody>
          <a:bodyPr wrap="square" lIns="0" tIns="0" rIns="0" bIns="0" rtlCol="0" anchor="t"/>
          <a:lstStyle/>
          <a:p>
            <a:pPr marL="0" indent="0">
              <a:buNone/>
            </a:pPr>
            <a:r>
              <a:rPr lang="en-US" sz="1250" dirty="0">
                <a:solidFill>
                  <a:srgbClr val="14211C"/>
                </a:solidFill>
                <a:latin typeface="Calibri" pitchFamily="34" charset="0"/>
                <a:ea typeface="Calibri" pitchFamily="34" charset="-122"/>
                <a:cs typeface="Calibri" pitchFamily="34" charset="-120"/>
              </a:rPr>
              <a:t>Faster, better-informed response with existing staff.</a:t>
            </a:r>
            <a:endParaRPr lang="en-US" sz="1250" dirty="0"/>
          </a:p>
        </p:txBody>
      </p:sp>
      <p:sp>
        <p:nvSpPr>
          <p:cNvPr id="18" name="Shape 15"/>
          <p:cNvSpPr/>
          <p:nvPr/>
        </p:nvSpPr>
        <p:spPr>
          <a:xfrm>
            <a:off x="6560820" y="1280160"/>
            <a:ext cx="2103120" cy="2286000"/>
          </a:xfrm>
          <a:prstGeom prst="roundRect">
            <a:avLst>
              <a:gd name="adj" fmla="val 4348"/>
            </a:avLst>
          </a:prstGeom>
          <a:solidFill>
            <a:srgbClr val="FFFFFF"/>
          </a:solidFill>
          <a:ln w="12700">
            <a:solidFill>
              <a:srgbClr val="DBE3DF"/>
            </a:solidFill>
            <a:prstDash val="solid"/>
          </a:ln>
        </p:spPr>
        <p:txBody>
          <a:bodyPr/>
          <a:lstStyle/>
          <a:p>
            <a:endParaRPr lang="en-MY"/>
          </a:p>
        </p:txBody>
      </p:sp>
      <p:sp>
        <p:nvSpPr>
          <p:cNvPr id="19" name="Shape 16"/>
          <p:cNvSpPr/>
          <p:nvPr/>
        </p:nvSpPr>
        <p:spPr>
          <a:xfrm>
            <a:off x="6697980" y="1417320"/>
            <a:ext cx="73152" cy="320040"/>
          </a:xfrm>
          <a:prstGeom prst="rect">
            <a:avLst/>
          </a:prstGeom>
          <a:solidFill>
            <a:srgbClr val="0F8A5F"/>
          </a:solidFill>
          <a:ln w="12700">
            <a:solidFill>
              <a:srgbClr val="0F8A5F"/>
            </a:solidFill>
            <a:prstDash val="solid"/>
          </a:ln>
        </p:spPr>
        <p:txBody>
          <a:bodyPr/>
          <a:lstStyle/>
          <a:p>
            <a:endParaRPr lang="en-MY"/>
          </a:p>
        </p:txBody>
      </p:sp>
      <p:sp>
        <p:nvSpPr>
          <p:cNvPr id="20" name="Text 17"/>
          <p:cNvSpPr txBox="1"/>
          <p:nvPr/>
        </p:nvSpPr>
        <p:spPr>
          <a:xfrm>
            <a:off x="6835140" y="1371600"/>
            <a:ext cx="1691640" cy="411480"/>
          </a:xfrm>
          <a:prstGeom prst="rect">
            <a:avLst/>
          </a:prstGeom>
          <a:noFill/>
          <a:ln/>
        </p:spPr>
        <p:txBody>
          <a:bodyPr wrap="square" lIns="0" tIns="0" rIns="0" bIns="0" rtlCol="0" anchor="ctr"/>
          <a:lstStyle/>
          <a:p>
            <a:pPr marL="0" indent="0">
              <a:buNone/>
            </a:pPr>
            <a:r>
              <a:rPr lang="en-US" sz="1400" b="1" dirty="0">
                <a:solidFill>
                  <a:srgbClr val="0B3D2E"/>
                </a:solidFill>
                <a:latin typeface="Calibri" pitchFamily="34" charset="0"/>
                <a:ea typeface="Calibri" pitchFamily="34" charset="-122"/>
                <a:cs typeface="Calibri" pitchFamily="34" charset="-120"/>
              </a:rPr>
              <a:t>Sime Darby Property</a:t>
            </a:r>
            <a:endParaRPr lang="en-US" sz="1400" dirty="0"/>
          </a:p>
        </p:txBody>
      </p:sp>
      <p:sp>
        <p:nvSpPr>
          <p:cNvPr id="21" name="Text 18"/>
          <p:cNvSpPr txBox="1"/>
          <p:nvPr/>
        </p:nvSpPr>
        <p:spPr>
          <a:xfrm>
            <a:off x="6743700" y="1874520"/>
            <a:ext cx="1737360" cy="1600200"/>
          </a:xfrm>
          <a:prstGeom prst="rect">
            <a:avLst/>
          </a:prstGeom>
          <a:noFill/>
          <a:ln/>
        </p:spPr>
        <p:txBody>
          <a:bodyPr wrap="square" lIns="0" tIns="0" rIns="0" bIns="0" rtlCol="0" anchor="t"/>
          <a:lstStyle/>
          <a:p>
            <a:pPr marL="0" indent="0">
              <a:buNone/>
            </a:pPr>
            <a:r>
              <a:rPr lang="en-US" sz="1250" dirty="0">
                <a:solidFill>
                  <a:srgbClr val="14211C"/>
                </a:solidFill>
                <a:latin typeface="Calibri" pitchFamily="34" charset="0"/>
                <a:ea typeface="Calibri" pitchFamily="34" charset="-122"/>
                <a:cs typeface="Calibri" pitchFamily="34" charset="-120"/>
              </a:rPr>
              <a:t>Higher liveability and retention; facilities placed using data.</a:t>
            </a:r>
            <a:endParaRPr lang="en-US" sz="1250" dirty="0"/>
          </a:p>
        </p:txBody>
      </p:sp>
      <p:sp>
        <p:nvSpPr>
          <p:cNvPr id="22" name="Text 19"/>
          <p:cNvSpPr txBox="1"/>
          <p:nvPr/>
        </p:nvSpPr>
        <p:spPr>
          <a:xfrm>
            <a:off x="457200" y="3886200"/>
            <a:ext cx="8229600" cy="548640"/>
          </a:xfrm>
          <a:prstGeom prst="rect">
            <a:avLst/>
          </a:prstGeom>
          <a:noFill/>
          <a:ln/>
        </p:spPr>
        <p:txBody>
          <a:bodyPr wrap="square" lIns="0" tIns="0" rIns="0" bIns="0" rtlCol="0" anchor="ctr"/>
          <a:lstStyle/>
          <a:p>
            <a:pPr marL="0" indent="0">
              <a:buNone/>
            </a:pPr>
            <a:r>
              <a:rPr lang="en-US" sz="1400" b="1" dirty="0">
                <a:solidFill>
                  <a:srgbClr val="0B3D2E"/>
                </a:solidFill>
                <a:latin typeface="Calibri" pitchFamily="34" charset="0"/>
                <a:ea typeface="Calibri" pitchFamily="34" charset="-122"/>
                <a:cs typeface="Calibri" pitchFamily="34" charset="-120"/>
              </a:rPr>
              <a:t>Proposed measures: check-in response time, weekly active participants, loneliness (UCLA 3-item), facility actions taken.</a:t>
            </a:r>
            <a:endParaRPr lang="en-US" sz="1400" dirty="0"/>
          </a:p>
        </p:txBody>
      </p:sp>
      <p:pic>
        <p:nvPicPr>
          <p:cNvPr id="23" name="Picture 22">
            <a:extLst>
              <a:ext uri="{FF2B5EF4-FFF2-40B4-BE49-F238E27FC236}">
                <a16:creationId xmlns:a16="http://schemas.microsoft.com/office/drawing/2014/main" id="{08EDFB12-6080-B702-76AC-13ACA20C2635}"/>
              </a:ext>
            </a:extLst>
          </p:cNvPr>
          <p:cNvPicPr>
            <a:picLocks noChangeAspect="1"/>
          </p:cNvPicPr>
          <p:nvPr/>
        </p:nvPicPr>
        <p:blipFill>
          <a:blip r:embed="rId3"/>
          <a:stretch>
            <a:fillRect/>
          </a:stretch>
        </p:blipFill>
        <p:spPr>
          <a:xfrm>
            <a:off x="7595235" y="219347"/>
            <a:ext cx="1000125" cy="7239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7"/>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0B3D2E"/>
                </a:solidFill>
                <a:latin typeface="Calibri" pitchFamily="34" charset="0"/>
                <a:ea typeface="Calibri" pitchFamily="34" charset="-122"/>
                <a:cs typeface="Calibri" pitchFamily="34" charset="-120"/>
              </a:rPr>
              <a:t>7. Feasibility</a:t>
            </a:r>
            <a:endParaRPr lang="en-US" sz="2800" dirty="0"/>
          </a:p>
        </p:txBody>
      </p:sp>
      <p:sp>
        <p:nvSpPr>
          <p:cNvPr id="3" name="Text 1"/>
          <p:cNvSpPr txBox="1"/>
          <p:nvPr/>
        </p:nvSpPr>
        <p:spPr>
          <a:xfrm>
            <a:off x="457200" y="777240"/>
            <a:ext cx="8229600" cy="320040"/>
          </a:xfrm>
          <a:prstGeom prst="rect">
            <a:avLst/>
          </a:prstGeom>
          <a:noFill/>
          <a:ln/>
        </p:spPr>
        <p:txBody>
          <a:bodyPr wrap="square" lIns="0" tIns="0" rIns="0" bIns="0" rtlCol="0" anchor="ctr"/>
          <a:lstStyle/>
          <a:p>
            <a:pPr marL="0" indent="0">
              <a:buNone/>
            </a:pPr>
            <a:r>
              <a:rPr lang="en-US" sz="1400" i="1" dirty="0">
                <a:solidFill>
                  <a:srgbClr val="5B6B64"/>
                </a:solidFill>
                <a:latin typeface="Calibri" pitchFamily="34" charset="0"/>
                <a:ea typeface="Calibri" pitchFamily="34" charset="-122"/>
                <a:cs typeface="Calibri" pitchFamily="34" charset="-120"/>
              </a:rPr>
              <a:t>Can it realistically be implemented?</a:t>
            </a:r>
            <a:endParaRPr lang="en-US" sz="1400" dirty="0"/>
          </a:p>
        </p:txBody>
      </p:sp>
      <p:sp>
        <p:nvSpPr>
          <p:cNvPr id="5" name="Text 2"/>
          <p:cNvSpPr txBox="1"/>
          <p:nvPr/>
        </p:nvSpPr>
        <p:spPr>
          <a:xfrm>
            <a:off x="457200" y="4828032"/>
            <a:ext cx="2743200" cy="201168"/>
          </a:xfrm>
          <a:prstGeom prst="rect">
            <a:avLst/>
          </a:prstGeom>
          <a:noFill/>
          <a:ln/>
        </p:spPr>
        <p:txBody>
          <a:bodyPr wrap="square" lIns="0" tIns="0" rIns="0" bIns="0" rtlCol="0" anchor="ctr"/>
          <a:lstStyle/>
          <a:p>
            <a:pPr marL="0" indent="0">
              <a:buNone/>
            </a:pPr>
            <a:r>
              <a:rPr lang="en-US" sz="1000" dirty="0">
                <a:solidFill>
                  <a:srgbClr val="5B6B64"/>
                </a:solidFill>
                <a:latin typeface="Calibri" pitchFamily="34" charset="0"/>
                <a:ea typeface="Calibri" pitchFamily="34" charset="-122"/>
                <a:cs typeface="Calibri" pitchFamily="34" charset="-120"/>
              </a:rPr>
              <a:t>SikLemau</a:t>
            </a:r>
            <a:endParaRPr lang="en-US" sz="1000" dirty="0"/>
          </a:p>
        </p:txBody>
      </p:sp>
      <p:sp>
        <p:nvSpPr>
          <p:cNvPr id="6" name="Shape 3"/>
          <p:cNvSpPr/>
          <p:nvPr/>
        </p:nvSpPr>
        <p:spPr>
          <a:xfrm>
            <a:off x="457200" y="1280160"/>
            <a:ext cx="2606040" cy="2651760"/>
          </a:xfrm>
          <a:prstGeom prst="roundRect">
            <a:avLst>
              <a:gd name="adj" fmla="val 3509"/>
            </a:avLst>
          </a:prstGeom>
          <a:solidFill>
            <a:srgbClr val="FFFFFF"/>
          </a:solidFill>
          <a:ln w="12700">
            <a:solidFill>
              <a:srgbClr val="DBE3DF"/>
            </a:solidFill>
            <a:prstDash val="solid"/>
          </a:ln>
        </p:spPr>
        <p:txBody>
          <a:bodyPr/>
          <a:lstStyle/>
          <a:p>
            <a:endParaRPr lang="en-MY"/>
          </a:p>
        </p:txBody>
      </p:sp>
      <p:sp>
        <p:nvSpPr>
          <p:cNvPr id="7" name="Shape 4"/>
          <p:cNvSpPr/>
          <p:nvPr/>
        </p:nvSpPr>
        <p:spPr>
          <a:xfrm>
            <a:off x="594360" y="1417320"/>
            <a:ext cx="73152" cy="320040"/>
          </a:xfrm>
          <a:prstGeom prst="rect">
            <a:avLst/>
          </a:prstGeom>
          <a:solidFill>
            <a:srgbClr val="0F8A5F"/>
          </a:solidFill>
          <a:ln w="12700">
            <a:solidFill>
              <a:srgbClr val="0F8A5F"/>
            </a:solidFill>
            <a:prstDash val="solid"/>
          </a:ln>
        </p:spPr>
        <p:txBody>
          <a:bodyPr/>
          <a:lstStyle/>
          <a:p>
            <a:endParaRPr lang="en-MY"/>
          </a:p>
        </p:txBody>
      </p:sp>
      <p:sp>
        <p:nvSpPr>
          <p:cNvPr id="8" name="Text 5"/>
          <p:cNvSpPr txBox="1"/>
          <p:nvPr/>
        </p:nvSpPr>
        <p:spPr>
          <a:xfrm>
            <a:off x="731520" y="1371600"/>
            <a:ext cx="2194560" cy="411480"/>
          </a:xfrm>
          <a:prstGeom prst="rect">
            <a:avLst/>
          </a:prstGeom>
          <a:noFill/>
          <a:ln/>
        </p:spPr>
        <p:txBody>
          <a:bodyPr wrap="square" lIns="0" tIns="0" rIns="0" bIns="0" rtlCol="0" anchor="ctr"/>
          <a:lstStyle/>
          <a:p>
            <a:pPr marL="0" indent="0">
              <a:buNone/>
            </a:pPr>
            <a:r>
              <a:rPr lang="en-US" sz="1500" b="1" dirty="0">
                <a:solidFill>
                  <a:srgbClr val="0B3D2E"/>
                </a:solidFill>
                <a:latin typeface="Calibri" pitchFamily="34" charset="0"/>
                <a:ea typeface="Calibri" pitchFamily="34" charset="-122"/>
                <a:cs typeface="Calibri" pitchFamily="34" charset="-120"/>
              </a:rPr>
              <a:t>Low cost</a:t>
            </a:r>
            <a:endParaRPr lang="en-US" sz="1500" dirty="0"/>
          </a:p>
        </p:txBody>
      </p:sp>
      <p:sp>
        <p:nvSpPr>
          <p:cNvPr id="9" name="Text 6"/>
          <p:cNvSpPr txBox="1"/>
          <p:nvPr/>
        </p:nvSpPr>
        <p:spPr>
          <a:xfrm>
            <a:off x="640080" y="1874520"/>
            <a:ext cx="2240280" cy="1965960"/>
          </a:xfrm>
          <a:prstGeom prst="rect">
            <a:avLst/>
          </a:prstGeom>
          <a:noFill/>
          <a:ln/>
        </p:spPr>
        <p:txBody>
          <a:bodyPr wrap="square" lIns="0" tIns="0" rIns="0" bIns="0" rtlCol="0" anchor="t"/>
          <a:lstStyle/>
          <a:p>
            <a:pPr marL="0" indent="0">
              <a:buNone/>
            </a:pPr>
            <a:r>
              <a:rPr lang="en-US" sz="1250" dirty="0">
                <a:solidFill>
                  <a:srgbClr val="14211C"/>
                </a:solidFill>
                <a:latin typeface="Calibri" pitchFamily="34" charset="0"/>
                <a:ea typeface="Calibri" pitchFamily="34" charset="-122"/>
                <a:cs typeface="Calibri" pitchFamily="34" charset="-120"/>
              </a:rPr>
              <a:t>Prototype built on free tools. Uses existing guardhouse and management staff.</a:t>
            </a:r>
            <a:endParaRPr lang="en-US" sz="1250" dirty="0"/>
          </a:p>
        </p:txBody>
      </p:sp>
      <p:sp>
        <p:nvSpPr>
          <p:cNvPr id="10" name="Shape 7"/>
          <p:cNvSpPr/>
          <p:nvPr/>
        </p:nvSpPr>
        <p:spPr>
          <a:xfrm>
            <a:off x="3268980" y="1280160"/>
            <a:ext cx="2606040" cy="2651760"/>
          </a:xfrm>
          <a:prstGeom prst="roundRect">
            <a:avLst>
              <a:gd name="adj" fmla="val 3509"/>
            </a:avLst>
          </a:prstGeom>
          <a:solidFill>
            <a:srgbClr val="FFFFFF"/>
          </a:solidFill>
          <a:ln w="12700">
            <a:solidFill>
              <a:srgbClr val="DBE3DF"/>
            </a:solidFill>
            <a:prstDash val="solid"/>
          </a:ln>
        </p:spPr>
        <p:txBody>
          <a:bodyPr/>
          <a:lstStyle/>
          <a:p>
            <a:endParaRPr lang="en-MY"/>
          </a:p>
        </p:txBody>
      </p:sp>
      <p:sp>
        <p:nvSpPr>
          <p:cNvPr id="11" name="Shape 8"/>
          <p:cNvSpPr/>
          <p:nvPr/>
        </p:nvSpPr>
        <p:spPr>
          <a:xfrm>
            <a:off x="3406140" y="1417320"/>
            <a:ext cx="73152" cy="320040"/>
          </a:xfrm>
          <a:prstGeom prst="rect">
            <a:avLst/>
          </a:prstGeom>
          <a:solidFill>
            <a:srgbClr val="0F8A5F"/>
          </a:solidFill>
          <a:ln w="12700">
            <a:solidFill>
              <a:srgbClr val="0F8A5F"/>
            </a:solidFill>
            <a:prstDash val="solid"/>
          </a:ln>
        </p:spPr>
        <p:txBody>
          <a:bodyPr/>
          <a:lstStyle/>
          <a:p>
            <a:endParaRPr lang="en-MY"/>
          </a:p>
        </p:txBody>
      </p:sp>
      <p:sp>
        <p:nvSpPr>
          <p:cNvPr id="12" name="Text 9"/>
          <p:cNvSpPr txBox="1"/>
          <p:nvPr/>
        </p:nvSpPr>
        <p:spPr>
          <a:xfrm>
            <a:off x="3543300" y="1371600"/>
            <a:ext cx="2194560" cy="411480"/>
          </a:xfrm>
          <a:prstGeom prst="rect">
            <a:avLst/>
          </a:prstGeom>
          <a:noFill/>
          <a:ln/>
        </p:spPr>
        <p:txBody>
          <a:bodyPr wrap="square" lIns="0" tIns="0" rIns="0" bIns="0" rtlCol="0" anchor="ctr"/>
          <a:lstStyle/>
          <a:p>
            <a:pPr marL="0" indent="0">
              <a:buNone/>
            </a:pPr>
            <a:r>
              <a:rPr lang="en-US" sz="1500" b="1" dirty="0">
                <a:solidFill>
                  <a:srgbClr val="0B3D2E"/>
                </a:solidFill>
                <a:latin typeface="Calibri" pitchFamily="34" charset="0"/>
                <a:ea typeface="Calibri" pitchFamily="34" charset="-122"/>
                <a:cs typeface="Calibri" pitchFamily="34" charset="-120"/>
              </a:rPr>
              <a:t>Safe and private</a:t>
            </a:r>
            <a:endParaRPr lang="en-US" sz="1500" dirty="0"/>
          </a:p>
        </p:txBody>
      </p:sp>
      <p:sp>
        <p:nvSpPr>
          <p:cNvPr id="13" name="Text 10"/>
          <p:cNvSpPr txBox="1"/>
          <p:nvPr/>
        </p:nvSpPr>
        <p:spPr>
          <a:xfrm>
            <a:off x="3451860" y="1874520"/>
            <a:ext cx="2240280" cy="1965960"/>
          </a:xfrm>
          <a:prstGeom prst="rect">
            <a:avLst/>
          </a:prstGeom>
          <a:noFill/>
          <a:ln/>
        </p:spPr>
        <p:txBody>
          <a:bodyPr wrap="square" lIns="0" tIns="0" rIns="0" bIns="0" rtlCol="0" anchor="t"/>
          <a:lstStyle/>
          <a:p>
            <a:pPr marL="0" indent="0">
              <a:buNone/>
            </a:pPr>
            <a:r>
              <a:rPr lang="en-US" sz="1250" dirty="0">
                <a:solidFill>
                  <a:srgbClr val="14211C"/>
                </a:solidFill>
                <a:latin typeface="Calibri" pitchFamily="34" charset="0"/>
                <a:ea typeface="Calibri" pitchFamily="34" charset="-122"/>
                <a:cs typeface="Calibri" pitchFamily="34" charset="-120"/>
              </a:rPr>
              <a:t>No diagnosis. Red flags go to 999. Opt-in, revocable consent. Designed for PDPA.</a:t>
            </a:r>
            <a:endParaRPr lang="en-US" sz="1250" dirty="0"/>
          </a:p>
        </p:txBody>
      </p:sp>
      <p:sp>
        <p:nvSpPr>
          <p:cNvPr id="14" name="Shape 11"/>
          <p:cNvSpPr/>
          <p:nvPr/>
        </p:nvSpPr>
        <p:spPr>
          <a:xfrm>
            <a:off x="6080760" y="1280160"/>
            <a:ext cx="2606040" cy="2651760"/>
          </a:xfrm>
          <a:prstGeom prst="roundRect">
            <a:avLst>
              <a:gd name="adj" fmla="val 3509"/>
            </a:avLst>
          </a:prstGeom>
          <a:solidFill>
            <a:srgbClr val="FFFFFF"/>
          </a:solidFill>
          <a:ln w="12700">
            <a:solidFill>
              <a:srgbClr val="DBE3DF"/>
            </a:solidFill>
            <a:prstDash val="solid"/>
          </a:ln>
        </p:spPr>
        <p:txBody>
          <a:bodyPr/>
          <a:lstStyle/>
          <a:p>
            <a:endParaRPr lang="en-MY"/>
          </a:p>
        </p:txBody>
      </p:sp>
      <p:sp>
        <p:nvSpPr>
          <p:cNvPr id="15" name="Shape 12"/>
          <p:cNvSpPr/>
          <p:nvPr/>
        </p:nvSpPr>
        <p:spPr>
          <a:xfrm>
            <a:off x="6217920" y="1417320"/>
            <a:ext cx="73152" cy="320040"/>
          </a:xfrm>
          <a:prstGeom prst="rect">
            <a:avLst/>
          </a:prstGeom>
          <a:solidFill>
            <a:srgbClr val="0F8A5F"/>
          </a:solidFill>
          <a:ln w="12700">
            <a:solidFill>
              <a:srgbClr val="0F8A5F"/>
            </a:solidFill>
            <a:prstDash val="solid"/>
          </a:ln>
        </p:spPr>
        <p:txBody>
          <a:bodyPr/>
          <a:lstStyle/>
          <a:p>
            <a:endParaRPr lang="en-MY"/>
          </a:p>
        </p:txBody>
      </p:sp>
      <p:sp>
        <p:nvSpPr>
          <p:cNvPr id="16" name="Text 13"/>
          <p:cNvSpPr txBox="1"/>
          <p:nvPr/>
        </p:nvSpPr>
        <p:spPr>
          <a:xfrm>
            <a:off x="6355080" y="1371600"/>
            <a:ext cx="2194560" cy="411480"/>
          </a:xfrm>
          <a:prstGeom prst="rect">
            <a:avLst/>
          </a:prstGeom>
          <a:noFill/>
          <a:ln/>
        </p:spPr>
        <p:txBody>
          <a:bodyPr wrap="square" lIns="0" tIns="0" rIns="0" bIns="0" rtlCol="0" anchor="ctr"/>
          <a:lstStyle/>
          <a:p>
            <a:pPr marL="0" indent="0">
              <a:buNone/>
            </a:pPr>
            <a:r>
              <a:rPr lang="en-US" sz="1500" b="1" dirty="0">
                <a:solidFill>
                  <a:srgbClr val="0B3D2E"/>
                </a:solidFill>
                <a:latin typeface="Calibri" pitchFamily="34" charset="0"/>
                <a:ea typeface="Calibri" pitchFamily="34" charset="-122"/>
                <a:cs typeface="Calibri" pitchFamily="34" charset="-120"/>
              </a:rPr>
              <a:t>Risks handled</a:t>
            </a:r>
            <a:endParaRPr lang="en-US" sz="1500" dirty="0"/>
          </a:p>
        </p:txBody>
      </p:sp>
      <p:sp>
        <p:nvSpPr>
          <p:cNvPr id="17" name="Text 14"/>
          <p:cNvSpPr txBox="1"/>
          <p:nvPr/>
        </p:nvSpPr>
        <p:spPr>
          <a:xfrm>
            <a:off x="6263640" y="1874520"/>
            <a:ext cx="2240280" cy="1965960"/>
          </a:xfrm>
          <a:prstGeom prst="rect">
            <a:avLst/>
          </a:prstGeom>
          <a:noFill/>
          <a:ln/>
        </p:spPr>
        <p:txBody>
          <a:bodyPr wrap="square" lIns="0" tIns="0" rIns="0" bIns="0" rtlCol="0" anchor="t"/>
          <a:lstStyle/>
          <a:p>
            <a:pPr marL="0" indent="0">
              <a:buNone/>
            </a:pPr>
            <a:r>
              <a:rPr lang="en-US" sz="1250" dirty="0">
                <a:solidFill>
                  <a:srgbClr val="14211C"/>
                </a:solidFill>
                <a:latin typeface="Calibri" pitchFamily="34" charset="0"/>
                <a:ea typeface="Calibri" pitchFamily="34" charset="-122"/>
                <a:cs typeface="Calibri" pitchFamily="34" charset="-120"/>
              </a:rPr>
              <a:t>Tunable timing for false alarms, family-assisted setup, rotating volunteers.</a:t>
            </a:r>
            <a:endParaRPr lang="en-US" sz="1250" dirty="0"/>
          </a:p>
        </p:txBody>
      </p:sp>
      <p:sp>
        <p:nvSpPr>
          <p:cNvPr id="18" name="Text 15"/>
          <p:cNvSpPr txBox="1"/>
          <p:nvPr/>
        </p:nvSpPr>
        <p:spPr>
          <a:xfrm>
            <a:off x="457200" y="4114800"/>
            <a:ext cx="8229600" cy="457200"/>
          </a:xfrm>
          <a:prstGeom prst="rect">
            <a:avLst/>
          </a:prstGeom>
          <a:noFill/>
          <a:ln/>
        </p:spPr>
        <p:txBody>
          <a:bodyPr wrap="square" lIns="0" tIns="0" rIns="0" bIns="0" rtlCol="0" anchor="ctr"/>
          <a:lstStyle/>
          <a:p>
            <a:pPr marL="0" indent="0">
              <a:buNone/>
            </a:pPr>
            <a:r>
              <a:rPr lang="en-US" sz="1400" dirty="0">
                <a:solidFill>
                  <a:srgbClr val="5B6B64"/>
                </a:solidFill>
                <a:latin typeface="Calibri" pitchFamily="34" charset="0"/>
                <a:ea typeface="Calibri" pitchFamily="34" charset="-122"/>
                <a:cs typeface="Calibri" pitchFamily="34" charset="-120"/>
              </a:rPr>
              <a:t>Stakeholders: Sime Darby Property township team, guardhouse, resident volunteers, partner clinics.</a:t>
            </a:r>
            <a:endParaRPr lang="en-US" sz="1400" dirty="0"/>
          </a:p>
        </p:txBody>
      </p:sp>
      <p:pic>
        <p:nvPicPr>
          <p:cNvPr id="19" name="Picture 18">
            <a:extLst>
              <a:ext uri="{FF2B5EF4-FFF2-40B4-BE49-F238E27FC236}">
                <a16:creationId xmlns:a16="http://schemas.microsoft.com/office/drawing/2014/main" id="{72C42DC1-4DD6-B739-22B7-C4ED699361E0}"/>
              </a:ext>
            </a:extLst>
          </p:cNvPr>
          <p:cNvPicPr>
            <a:picLocks noChangeAspect="1"/>
          </p:cNvPicPr>
          <p:nvPr/>
        </p:nvPicPr>
        <p:blipFill>
          <a:blip r:embed="rId3"/>
          <a:stretch>
            <a:fillRect/>
          </a:stretch>
        </p:blipFill>
        <p:spPr>
          <a:xfrm>
            <a:off x="7595235" y="219347"/>
            <a:ext cx="1000125" cy="7239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7"/>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0B3D2E"/>
                </a:solidFill>
                <a:latin typeface="Calibri" pitchFamily="34" charset="0"/>
                <a:ea typeface="Calibri" pitchFamily="34" charset="-122"/>
                <a:cs typeface="Calibri" pitchFamily="34" charset="-120"/>
              </a:rPr>
              <a:t>8. Implementation</a:t>
            </a:r>
            <a:endParaRPr lang="en-US" sz="2800" dirty="0"/>
          </a:p>
        </p:txBody>
      </p:sp>
      <p:sp>
        <p:nvSpPr>
          <p:cNvPr id="3" name="Text 1"/>
          <p:cNvSpPr txBox="1"/>
          <p:nvPr/>
        </p:nvSpPr>
        <p:spPr>
          <a:xfrm>
            <a:off x="457200" y="777240"/>
            <a:ext cx="8229600" cy="320040"/>
          </a:xfrm>
          <a:prstGeom prst="rect">
            <a:avLst/>
          </a:prstGeom>
          <a:noFill/>
          <a:ln/>
        </p:spPr>
        <p:txBody>
          <a:bodyPr wrap="square" lIns="0" tIns="0" rIns="0" bIns="0" rtlCol="0" anchor="ctr"/>
          <a:lstStyle/>
          <a:p>
            <a:pPr marL="0" indent="0">
              <a:buNone/>
            </a:pPr>
            <a:r>
              <a:rPr lang="en-US" sz="1400" i="1" dirty="0">
                <a:solidFill>
                  <a:srgbClr val="5B6B64"/>
                </a:solidFill>
                <a:latin typeface="Calibri" pitchFamily="34" charset="0"/>
                <a:ea typeface="Calibri" pitchFamily="34" charset="-122"/>
                <a:cs typeface="Calibri" pitchFamily="34" charset="-120"/>
              </a:rPr>
              <a:t>Pilot: 500 households, 3 months, one township agreed with Sime Darby Property</a:t>
            </a:r>
            <a:endParaRPr lang="en-US" sz="1400" dirty="0"/>
          </a:p>
        </p:txBody>
      </p:sp>
      <p:sp>
        <p:nvSpPr>
          <p:cNvPr id="5" name="Text 2"/>
          <p:cNvSpPr txBox="1"/>
          <p:nvPr/>
        </p:nvSpPr>
        <p:spPr>
          <a:xfrm>
            <a:off x="457200" y="4828032"/>
            <a:ext cx="2743200" cy="201168"/>
          </a:xfrm>
          <a:prstGeom prst="rect">
            <a:avLst/>
          </a:prstGeom>
          <a:noFill/>
          <a:ln/>
        </p:spPr>
        <p:txBody>
          <a:bodyPr wrap="square" lIns="0" tIns="0" rIns="0" bIns="0" rtlCol="0" anchor="ctr"/>
          <a:lstStyle/>
          <a:p>
            <a:pPr marL="0" indent="0">
              <a:buNone/>
            </a:pPr>
            <a:r>
              <a:rPr lang="en-US" sz="1000" dirty="0">
                <a:solidFill>
                  <a:srgbClr val="5B6B64"/>
                </a:solidFill>
                <a:latin typeface="Calibri" pitchFamily="34" charset="0"/>
                <a:ea typeface="Calibri" pitchFamily="34" charset="-122"/>
                <a:cs typeface="Calibri" pitchFamily="34" charset="-120"/>
              </a:rPr>
              <a:t>SikLemau</a:t>
            </a:r>
            <a:endParaRPr lang="en-US" sz="1000" dirty="0"/>
          </a:p>
        </p:txBody>
      </p:sp>
      <p:sp>
        <p:nvSpPr>
          <p:cNvPr id="6" name="Shape 3"/>
          <p:cNvSpPr/>
          <p:nvPr/>
        </p:nvSpPr>
        <p:spPr>
          <a:xfrm>
            <a:off x="457200" y="1371600"/>
            <a:ext cx="2606040" cy="2377440"/>
          </a:xfrm>
          <a:prstGeom prst="roundRect">
            <a:avLst>
              <a:gd name="adj" fmla="val 3846"/>
            </a:avLst>
          </a:prstGeom>
          <a:solidFill>
            <a:srgbClr val="FFFFFF"/>
          </a:solidFill>
          <a:ln w="12700">
            <a:solidFill>
              <a:srgbClr val="DBE3DF"/>
            </a:solidFill>
            <a:prstDash val="solid"/>
          </a:ln>
        </p:spPr>
        <p:txBody>
          <a:bodyPr/>
          <a:lstStyle/>
          <a:p>
            <a:endParaRPr lang="en-MY"/>
          </a:p>
        </p:txBody>
      </p:sp>
      <p:sp>
        <p:nvSpPr>
          <p:cNvPr id="7" name="Shape 4"/>
          <p:cNvSpPr/>
          <p:nvPr/>
        </p:nvSpPr>
        <p:spPr>
          <a:xfrm>
            <a:off x="594360" y="1508760"/>
            <a:ext cx="73152" cy="320040"/>
          </a:xfrm>
          <a:prstGeom prst="rect">
            <a:avLst/>
          </a:prstGeom>
          <a:solidFill>
            <a:srgbClr val="0F8A5F"/>
          </a:solidFill>
          <a:ln w="12700">
            <a:solidFill>
              <a:srgbClr val="0F8A5F"/>
            </a:solidFill>
            <a:prstDash val="solid"/>
          </a:ln>
        </p:spPr>
        <p:txBody>
          <a:bodyPr/>
          <a:lstStyle/>
          <a:p>
            <a:endParaRPr lang="en-MY"/>
          </a:p>
        </p:txBody>
      </p:sp>
      <p:sp>
        <p:nvSpPr>
          <p:cNvPr id="8" name="Text 5"/>
          <p:cNvSpPr txBox="1"/>
          <p:nvPr/>
        </p:nvSpPr>
        <p:spPr>
          <a:xfrm>
            <a:off x="731520" y="1463040"/>
            <a:ext cx="2194560" cy="411480"/>
          </a:xfrm>
          <a:prstGeom prst="rect">
            <a:avLst/>
          </a:prstGeom>
          <a:noFill/>
          <a:ln/>
        </p:spPr>
        <p:txBody>
          <a:bodyPr wrap="square" lIns="0" tIns="0" rIns="0" bIns="0" rtlCol="0" anchor="ctr"/>
          <a:lstStyle/>
          <a:p>
            <a:pPr marL="0" indent="0">
              <a:buNone/>
            </a:pPr>
            <a:r>
              <a:rPr lang="en-US" sz="1500" b="1" dirty="0">
                <a:solidFill>
                  <a:srgbClr val="0B3D2E"/>
                </a:solidFill>
                <a:latin typeface="Calibri" pitchFamily="34" charset="0"/>
                <a:ea typeface="Calibri" pitchFamily="34" charset="-122"/>
                <a:cs typeface="Calibri" pitchFamily="34" charset="-120"/>
              </a:rPr>
              <a:t>Weeks 1–3: Onboard</a:t>
            </a:r>
            <a:endParaRPr lang="en-US" sz="1500" dirty="0"/>
          </a:p>
        </p:txBody>
      </p:sp>
      <p:sp>
        <p:nvSpPr>
          <p:cNvPr id="9" name="Text 6"/>
          <p:cNvSpPr txBox="1"/>
          <p:nvPr/>
        </p:nvSpPr>
        <p:spPr>
          <a:xfrm>
            <a:off x="640080" y="1965960"/>
            <a:ext cx="2240280" cy="1691640"/>
          </a:xfrm>
          <a:prstGeom prst="rect">
            <a:avLst/>
          </a:prstGeom>
          <a:noFill/>
          <a:ln/>
        </p:spPr>
        <p:txBody>
          <a:bodyPr wrap="square" lIns="0" tIns="0" rIns="0" bIns="0" rtlCol="0" anchor="t"/>
          <a:lstStyle/>
          <a:p>
            <a:pPr marL="0" indent="0">
              <a:buNone/>
            </a:pPr>
            <a:r>
              <a:rPr lang="en-US" sz="1250" dirty="0">
                <a:solidFill>
                  <a:srgbClr val="14211C"/>
                </a:solidFill>
                <a:latin typeface="Calibri" pitchFamily="34" charset="0"/>
                <a:ea typeface="Calibri" pitchFamily="34" charset="-122"/>
                <a:cs typeface="Calibri" pitchFamily="34" charset="-120"/>
              </a:rPr>
              <a:t>QR codes at guardhouses and halls. Train volunteers. Set township configuration pack.</a:t>
            </a:r>
            <a:endParaRPr lang="en-US" sz="1250" dirty="0"/>
          </a:p>
        </p:txBody>
      </p:sp>
      <p:sp>
        <p:nvSpPr>
          <p:cNvPr id="10" name="Shape 7"/>
          <p:cNvSpPr/>
          <p:nvPr/>
        </p:nvSpPr>
        <p:spPr>
          <a:xfrm>
            <a:off x="3268980" y="1371600"/>
            <a:ext cx="2606040" cy="2377440"/>
          </a:xfrm>
          <a:prstGeom prst="roundRect">
            <a:avLst>
              <a:gd name="adj" fmla="val 3846"/>
            </a:avLst>
          </a:prstGeom>
          <a:solidFill>
            <a:srgbClr val="FFFFFF"/>
          </a:solidFill>
          <a:ln w="12700">
            <a:solidFill>
              <a:srgbClr val="DBE3DF"/>
            </a:solidFill>
            <a:prstDash val="solid"/>
          </a:ln>
        </p:spPr>
        <p:txBody>
          <a:bodyPr/>
          <a:lstStyle/>
          <a:p>
            <a:endParaRPr lang="en-MY"/>
          </a:p>
        </p:txBody>
      </p:sp>
      <p:sp>
        <p:nvSpPr>
          <p:cNvPr id="11" name="Shape 8"/>
          <p:cNvSpPr/>
          <p:nvPr/>
        </p:nvSpPr>
        <p:spPr>
          <a:xfrm>
            <a:off x="3406140" y="1508760"/>
            <a:ext cx="73152" cy="320040"/>
          </a:xfrm>
          <a:prstGeom prst="rect">
            <a:avLst/>
          </a:prstGeom>
          <a:solidFill>
            <a:srgbClr val="0F8A5F"/>
          </a:solidFill>
          <a:ln w="12700">
            <a:solidFill>
              <a:srgbClr val="0F8A5F"/>
            </a:solidFill>
            <a:prstDash val="solid"/>
          </a:ln>
        </p:spPr>
        <p:txBody>
          <a:bodyPr/>
          <a:lstStyle/>
          <a:p>
            <a:endParaRPr lang="en-MY"/>
          </a:p>
        </p:txBody>
      </p:sp>
      <p:sp>
        <p:nvSpPr>
          <p:cNvPr id="12" name="Text 9"/>
          <p:cNvSpPr txBox="1"/>
          <p:nvPr/>
        </p:nvSpPr>
        <p:spPr>
          <a:xfrm>
            <a:off x="3543300" y="1463040"/>
            <a:ext cx="2194560" cy="411480"/>
          </a:xfrm>
          <a:prstGeom prst="rect">
            <a:avLst/>
          </a:prstGeom>
          <a:noFill/>
          <a:ln/>
        </p:spPr>
        <p:txBody>
          <a:bodyPr wrap="square" lIns="0" tIns="0" rIns="0" bIns="0" rtlCol="0" anchor="ctr"/>
          <a:lstStyle/>
          <a:p>
            <a:pPr marL="0" indent="0">
              <a:buNone/>
            </a:pPr>
            <a:r>
              <a:rPr lang="en-US" sz="1500" b="1" dirty="0">
                <a:solidFill>
                  <a:srgbClr val="0B3D2E"/>
                </a:solidFill>
                <a:latin typeface="Calibri" pitchFamily="34" charset="0"/>
                <a:ea typeface="Calibri" pitchFamily="34" charset="-122"/>
                <a:cs typeface="Calibri" pitchFamily="34" charset="-120"/>
              </a:rPr>
              <a:t>Weeks 4–10: Run live</a:t>
            </a:r>
            <a:endParaRPr lang="en-US" sz="1500" dirty="0"/>
          </a:p>
        </p:txBody>
      </p:sp>
      <p:sp>
        <p:nvSpPr>
          <p:cNvPr id="13" name="Text 10"/>
          <p:cNvSpPr txBox="1"/>
          <p:nvPr/>
        </p:nvSpPr>
        <p:spPr>
          <a:xfrm>
            <a:off x="3451860" y="1965960"/>
            <a:ext cx="2240280" cy="1691640"/>
          </a:xfrm>
          <a:prstGeom prst="rect">
            <a:avLst/>
          </a:prstGeom>
          <a:noFill/>
          <a:ln/>
        </p:spPr>
        <p:txBody>
          <a:bodyPr wrap="square" lIns="0" tIns="0" rIns="0" bIns="0" rtlCol="0" anchor="t"/>
          <a:lstStyle/>
          <a:p>
            <a:pPr marL="0" indent="0">
              <a:buNone/>
            </a:pPr>
            <a:r>
              <a:rPr lang="en-US" sz="1250" dirty="0">
                <a:solidFill>
                  <a:srgbClr val="14211C"/>
                </a:solidFill>
                <a:latin typeface="Calibri" pitchFamily="34" charset="0"/>
                <a:ea typeface="Calibri" pitchFamily="34" charset="-122"/>
                <a:cs typeface="Calibri" pitchFamily="34" charset="-120"/>
              </a:rPr>
              <a:t>Check-ins and escalation live. Weekly review of alerts and feedback.</a:t>
            </a:r>
            <a:endParaRPr lang="en-US" sz="1250" dirty="0"/>
          </a:p>
        </p:txBody>
      </p:sp>
      <p:sp>
        <p:nvSpPr>
          <p:cNvPr id="14" name="Shape 11"/>
          <p:cNvSpPr/>
          <p:nvPr/>
        </p:nvSpPr>
        <p:spPr>
          <a:xfrm>
            <a:off x="6080760" y="1371600"/>
            <a:ext cx="2606040" cy="2377440"/>
          </a:xfrm>
          <a:prstGeom prst="roundRect">
            <a:avLst>
              <a:gd name="adj" fmla="val 3846"/>
            </a:avLst>
          </a:prstGeom>
          <a:solidFill>
            <a:srgbClr val="FFFFFF"/>
          </a:solidFill>
          <a:ln w="12700">
            <a:solidFill>
              <a:srgbClr val="DBE3DF"/>
            </a:solidFill>
            <a:prstDash val="solid"/>
          </a:ln>
        </p:spPr>
        <p:txBody>
          <a:bodyPr/>
          <a:lstStyle/>
          <a:p>
            <a:endParaRPr lang="en-MY"/>
          </a:p>
        </p:txBody>
      </p:sp>
      <p:sp>
        <p:nvSpPr>
          <p:cNvPr id="15" name="Shape 12"/>
          <p:cNvSpPr/>
          <p:nvPr/>
        </p:nvSpPr>
        <p:spPr>
          <a:xfrm>
            <a:off x="6217920" y="1508760"/>
            <a:ext cx="73152" cy="320040"/>
          </a:xfrm>
          <a:prstGeom prst="rect">
            <a:avLst/>
          </a:prstGeom>
          <a:solidFill>
            <a:srgbClr val="0F8A5F"/>
          </a:solidFill>
          <a:ln w="12700">
            <a:solidFill>
              <a:srgbClr val="0F8A5F"/>
            </a:solidFill>
            <a:prstDash val="solid"/>
          </a:ln>
        </p:spPr>
        <p:txBody>
          <a:bodyPr/>
          <a:lstStyle/>
          <a:p>
            <a:endParaRPr lang="en-MY"/>
          </a:p>
        </p:txBody>
      </p:sp>
      <p:sp>
        <p:nvSpPr>
          <p:cNvPr id="16" name="Text 13"/>
          <p:cNvSpPr txBox="1"/>
          <p:nvPr/>
        </p:nvSpPr>
        <p:spPr>
          <a:xfrm>
            <a:off x="6355080" y="1463040"/>
            <a:ext cx="2194560" cy="411480"/>
          </a:xfrm>
          <a:prstGeom prst="rect">
            <a:avLst/>
          </a:prstGeom>
          <a:noFill/>
          <a:ln/>
        </p:spPr>
        <p:txBody>
          <a:bodyPr wrap="square" lIns="0" tIns="0" rIns="0" bIns="0" rtlCol="0" anchor="ctr"/>
          <a:lstStyle/>
          <a:p>
            <a:pPr marL="0" indent="0">
              <a:buNone/>
            </a:pPr>
            <a:r>
              <a:rPr lang="en-US" sz="1500" b="1" dirty="0">
                <a:solidFill>
                  <a:srgbClr val="0B3D2E"/>
                </a:solidFill>
                <a:latin typeface="Calibri" pitchFamily="34" charset="0"/>
                <a:ea typeface="Calibri" pitchFamily="34" charset="-122"/>
                <a:cs typeface="Calibri" pitchFamily="34" charset="-120"/>
              </a:rPr>
              <a:t>Weeks 11–12: Evaluate</a:t>
            </a:r>
            <a:endParaRPr lang="en-US" sz="1500" dirty="0"/>
          </a:p>
        </p:txBody>
      </p:sp>
      <p:sp>
        <p:nvSpPr>
          <p:cNvPr id="17" name="Text 14"/>
          <p:cNvSpPr txBox="1"/>
          <p:nvPr/>
        </p:nvSpPr>
        <p:spPr>
          <a:xfrm>
            <a:off x="6263640" y="1965960"/>
            <a:ext cx="2240280" cy="1691640"/>
          </a:xfrm>
          <a:prstGeom prst="rect">
            <a:avLst/>
          </a:prstGeom>
          <a:noFill/>
          <a:ln/>
        </p:spPr>
        <p:txBody>
          <a:bodyPr wrap="square" lIns="0" tIns="0" rIns="0" bIns="0" rtlCol="0" anchor="t"/>
          <a:lstStyle/>
          <a:p>
            <a:pPr marL="0" indent="0">
              <a:buNone/>
            </a:pPr>
            <a:r>
              <a:rPr lang="en-US" sz="1250" dirty="0">
                <a:solidFill>
                  <a:srgbClr val="14211C"/>
                </a:solidFill>
                <a:latin typeface="Calibri" pitchFamily="34" charset="0"/>
                <a:ea typeface="Calibri" pitchFamily="34" charset="-122"/>
                <a:cs typeface="Calibri" pitchFamily="34" charset="-120"/>
              </a:rPr>
              <a:t>Measure response time, participation, loneliness. Report to Sime Darby Property.</a:t>
            </a:r>
            <a:endParaRPr lang="en-US" sz="1250" dirty="0"/>
          </a:p>
        </p:txBody>
      </p:sp>
      <p:sp>
        <p:nvSpPr>
          <p:cNvPr id="18" name="Text 15"/>
          <p:cNvSpPr txBox="1"/>
          <p:nvPr/>
        </p:nvSpPr>
        <p:spPr>
          <a:xfrm>
            <a:off x="457200" y="3977640"/>
            <a:ext cx="8229600" cy="640080"/>
          </a:xfrm>
          <a:prstGeom prst="rect">
            <a:avLst/>
          </a:prstGeom>
          <a:noFill/>
          <a:ln/>
        </p:spPr>
        <p:txBody>
          <a:bodyPr wrap="square" lIns="0" tIns="0" rIns="0" bIns="0" rtlCol="0" anchor="ctr"/>
          <a:lstStyle/>
          <a:p>
            <a:pPr marL="0" indent="0">
              <a:buNone/>
            </a:pPr>
            <a:r>
              <a:rPr lang="en-US" sz="1400" dirty="0">
                <a:solidFill>
                  <a:srgbClr val="14211C"/>
                </a:solidFill>
                <a:latin typeface="Calibri" pitchFamily="34" charset="0"/>
                <a:ea typeface="Calibri" pitchFamily="34" charset="-122"/>
                <a:cs typeface="Calibri" pitchFamily="34" charset="-120"/>
              </a:rPr>
              <a:t>Scale: bundle into township management services; clinic and pharmacy partners as optional revenue. Next build step: working Telegram bot.</a:t>
            </a:r>
            <a:endParaRPr lang="en-US" sz="1400" dirty="0"/>
          </a:p>
        </p:txBody>
      </p:sp>
      <p:pic>
        <p:nvPicPr>
          <p:cNvPr id="19" name="Picture 18">
            <a:extLst>
              <a:ext uri="{FF2B5EF4-FFF2-40B4-BE49-F238E27FC236}">
                <a16:creationId xmlns:a16="http://schemas.microsoft.com/office/drawing/2014/main" id="{4A7932C9-6FBB-8041-33D5-0875BA20818E}"/>
              </a:ext>
            </a:extLst>
          </p:cNvPr>
          <p:cNvPicPr>
            <a:picLocks noChangeAspect="1"/>
          </p:cNvPicPr>
          <p:nvPr/>
        </p:nvPicPr>
        <p:blipFill>
          <a:blip r:embed="rId3"/>
          <a:stretch>
            <a:fillRect/>
          </a:stretch>
        </p:blipFill>
        <p:spPr>
          <a:xfrm>
            <a:off x="7595235" y="219347"/>
            <a:ext cx="1000125" cy="7239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7"/>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0B3D2E"/>
                </a:solidFill>
                <a:latin typeface="Calibri" pitchFamily="34" charset="0"/>
                <a:ea typeface="Calibri" pitchFamily="34" charset="-122"/>
                <a:cs typeface="Calibri" pitchFamily="34" charset="-120"/>
              </a:rPr>
              <a:t>Why Our Team Should Win</a:t>
            </a:r>
            <a:endParaRPr lang="en-US" sz="2800" dirty="0"/>
          </a:p>
        </p:txBody>
      </p:sp>
      <p:sp>
        <p:nvSpPr>
          <p:cNvPr id="4" name="Text 1"/>
          <p:cNvSpPr txBox="1"/>
          <p:nvPr/>
        </p:nvSpPr>
        <p:spPr>
          <a:xfrm>
            <a:off x="457200" y="4828032"/>
            <a:ext cx="2743200" cy="201168"/>
          </a:xfrm>
          <a:prstGeom prst="rect">
            <a:avLst/>
          </a:prstGeom>
          <a:noFill/>
          <a:ln/>
        </p:spPr>
        <p:txBody>
          <a:bodyPr wrap="square" lIns="0" tIns="0" rIns="0" bIns="0" rtlCol="0" anchor="ctr"/>
          <a:lstStyle/>
          <a:p>
            <a:pPr marL="0" indent="0">
              <a:buNone/>
            </a:pPr>
            <a:r>
              <a:rPr lang="en-US" sz="1000" dirty="0">
                <a:solidFill>
                  <a:srgbClr val="5B6B64"/>
                </a:solidFill>
                <a:latin typeface="Calibri" pitchFamily="34" charset="0"/>
                <a:ea typeface="Calibri" pitchFamily="34" charset="-122"/>
                <a:cs typeface="Calibri" pitchFamily="34" charset="-120"/>
              </a:rPr>
              <a:t>SikLemau</a:t>
            </a:r>
            <a:endParaRPr lang="en-US" sz="1000" dirty="0"/>
          </a:p>
        </p:txBody>
      </p:sp>
      <p:sp>
        <p:nvSpPr>
          <p:cNvPr id="5" name="Text 2"/>
          <p:cNvSpPr txBox="1"/>
          <p:nvPr/>
        </p:nvSpPr>
        <p:spPr>
          <a:xfrm>
            <a:off x="457200" y="1097280"/>
            <a:ext cx="8229600" cy="3291840"/>
          </a:xfrm>
          <a:prstGeom prst="rect">
            <a:avLst/>
          </a:prstGeom>
          <a:noFill/>
          <a:ln/>
        </p:spPr>
        <p:txBody>
          <a:bodyPr wrap="square" lIns="0" tIns="0" rIns="0" bIns="0" rtlCol="0" anchor="t"/>
          <a:lstStyle/>
          <a:p>
            <a:pPr marL="0" indent="0" algn="just">
              <a:lnSpc>
                <a:spcPct val="115000"/>
              </a:lnSpc>
              <a:buNone/>
            </a:pPr>
            <a:r>
              <a:rPr lang="en-US" sz="1800" dirty="0">
                <a:solidFill>
                  <a:srgbClr val="14211C"/>
                </a:solidFill>
                <a:latin typeface="Calibri" pitchFamily="34" charset="0"/>
                <a:ea typeface="Calibri" pitchFamily="34" charset="-122"/>
                <a:cs typeface="Calibri" pitchFamily="34" charset="-120"/>
              </a:rPr>
              <a:t>SikLemau turns a township into a health system. Instead of another passive app, it checks on residents, escalates when something is wrong, and connects neighbours through shared health goals. It is practical: it uses existing guardhouse staff, free tools and a configuration pack for each township. It is safe and private by design, and gives Sime Darby Property anonymised insights to place shade, lighting and programmes where residents need them. Our prototype demonstrates the full journey, and our pilot plan is ready to start.</a:t>
            </a:r>
            <a:endParaRPr lang="en-US" sz="1800" dirty="0"/>
          </a:p>
        </p:txBody>
      </p:sp>
      <p:pic>
        <p:nvPicPr>
          <p:cNvPr id="6" name="Picture 5">
            <a:extLst>
              <a:ext uri="{FF2B5EF4-FFF2-40B4-BE49-F238E27FC236}">
                <a16:creationId xmlns:a16="http://schemas.microsoft.com/office/drawing/2014/main" id="{9AA42FF2-6F95-265B-C506-5AC04DDBFC30}"/>
              </a:ext>
            </a:extLst>
          </p:cNvPr>
          <p:cNvPicPr>
            <a:picLocks noChangeAspect="1"/>
          </p:cNvPicPr>
          <p:nvPr/>
        </p:nvPicPr>
        <p:blipFill>
          <a:blip r:embed="rId3"/>
          <a:stretch>
            <a:fillRect/>
          </a:stretch>
        </p:blipFill>
        <p:spPr>
          <a:xfrm>
            <a:off x="7595235" y="219347"/>
            <a:ext cx="1000125" cy="7239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7"/>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0B3D2E"/>
                </a:solidFill>
                <a:latin typeface="Calibri" pitchFamily="34" charset="0"/>
                <a:ea typeface="Calibri" pitchFamily="34" charset="-122"/>
                <a:cs typeface="Calibri" pitchFamily="34" charset="-120"/>
              </a:rPr>
              <a:t>Appendix: Visual Concept (prototype screens)</a:t>
            </a:r>
            <a:endParaRPr lang="en-US" sz="2800" dirty="0"/>
          </a:p>
        </p:txBody>
      </p:sp>
      <p:sp>
        <p:nvSpPr>
          <p:cNvPr id="4" name="Text 1"/>
          <p:cNvSpPr txBox="1"/>
          <p:nvPr/>
        </p:nvSpPr>
        <p:spPr>
          <a:xfrm>
            <a:off x="457200" y="4828032"/>
            <a:ext cx="2743200" cy="201168"/>
          </a:xfrm>
          <a:prstGeom prst="rect">
            <a:avLst/>
          </a:prstGeom>
          <a:noFill/>
          <a:ln/>
        </p:spPr>
        <p:txBody>
          <a:bodyPr wrap="square" lIns="0" tIns="0" rIns="0" bIns="0" rtlCol="0" anchor="ctr"/>
          <a:lstStyle/>
          <a:p>
            <a:pPr marL="0" indent="0">
              <a:buNone/>
            </a:pPr>
            <a:r>
              <a:rPr lang="en-US" sz="1000" dirty="0">
                <a:solidFill>
                  <a:srgbClr val="5B6B64"/>
                </a:solidFill>
                <a:latin typeface="Calibri" pitchFamily="34" charset="0"/>
                <a:ea typeface="Calibri" pitchFamily="34" charset="-122"/>
                <a:cs typeface="Calibri" pitchFamily="34" charset="-120"/>
              </a:rPr>
              <a:t>SikLemau</a:t>
            </a:r>
            <a:endParaRPr lang="en-US" sz="1000" dirty="0"/>
          </a:p>
        </p:txBody>
      </p:sp>
      <p:pic>
        <p:nvPicPr>
          <p:cNvPr id="5" name="Image 0" descr="s1.png"/>
          <p:cNvPicPr>
            <a:picLocks noChangeAspect="1"/>
          </p:cNvPicPr>
          <p:nvPr/>
        </p:nvPicPr>
        <p:blipFill>
          <a:blip r:embed="rId3"/>
          <a:stretch>
            <a:fillRect/>
          </a:stretch>
        </p:blipFill>
        <p:spPr>
          <a:xfrm>
            <a:off x="457200" y="914400"/>
            <a:ext cx="3017520" cy="1920240"/>
          </a:xfrm>
          <a:prstGeom prst="rect">
            <a:avLst/>
          </a:prstGeom>
        </p:spPr>
      </p:pic>
      <p:pic>
        <p:nvPicPr>
          <p:cNvPr id="6" name="Image 1" descr="s2.png"/>
          <p:cNvPicPr>
            <a:picLocks noChangeAspect="1"/>
          </p:cNvPicPr>
          <p:nvPr/>
        </p:nvPicPr>
        <p:blipFill>
          <a:blip r:embed="rId4"/>
          <a:stretch>
            <a:fillRect/>
          </a:stretch>
        </p:blipFill>
        <p:spPr>
          <a:xfrm>
            <a:off x="4663440" y="914400"/>
            <a:ext cx="3017520" cy="1920240"/>
          </a:xfrm>
          <a:prstGeom prst="rect">
            <a:avLst/>
          </a:prstGeom>
        </p:spPr>
      </p:pic>
      <p:pic>
        <p:nvPicPr>
          <p:cNvPr id="7" name="Image 2" descr="s3.png"/>
          <p:cNvPicPr>
            <a:picLocks noChangeAspect="1"/>
          </p:cNvPicPr>
          <p:nvPr/>
        </p:nvPicPr>
        <p:blipFill>
          <a:blip r:embed="rId5"/>
          <a:stretch>
            <a:fillRect/>
          </a:stretch>
        </p:blipFill>
        <p:spPr>
          <a:xfrm>
            <a:off x="457200" y="2834640"/>
            <a:ext cx="3017520" cy="1920240"/>
          </a:xfrm>
          <a:prstGeom prst="rect">
            <a:avLst/>
          </a:prstGeom>
        </p:spPr>
      </p:pic>
      <p:pic>
        <p:nvPicPr>
          <p:cNvPr id="8" name="Image 3" descr="s4.png"/>
          <p:cNvPicPr>
            <a:picLocks noChangeAspect="1"/>
          </p:cNvPicPr>
          <p:nvPr/>
        </p:nvPicPr>
        <p:blipFill>
          <a:blip r:embed="rId6"/>
          <a:stretch>
            <a:fillRect/>
          </a:stretch>
        </p:blipFill>
        <p:spPr>
          <a:xfrm>
            <a:off x="4663440" y="2834640"/>
            <a:ext cx="3017520" cy="1920240"/>
          </a:xfrm>
          <a:prstGeom prst="rect">
            <a:avLst/>
          </a:prstGeom>
        </p:spPr>
      </p:pic>
      <p:pic>
        <p:nvPicPr>
          <p:cNvPr id="9" name="Picture 8">
            <a:extLst>
              <a:ext uri="{FF2B5EF4-FFF2-40B4-BE49-F238E27FC236}">
                <a16:creationId xmlns:a16="http://schemas.microsoft.com/office/drawing/2014/main" id="{B6598310-CFFE-2F80-B99D-AD6E2F356E84}"/>
              </a:ext>
            </a:extLst>
          </p:cNvPr>
          <p:cNvPicPr>
            <a:picLocks noChangeAspect="1"/>
          </p:cNvPicPr>
          <p:nvPr/>
        </p:nvPicPr>
        <p:blipFill>
          <a:blip r:embed="rId7"/>
          <a:stretch>
            <a:fillRect/>
          </a:stretch>
        </p:blipFill>
        <p:spPr>
          <a:xfrm>
            <a:off x="7595235" y="219347"/>
            <a:ext cx="1000125" cy="7239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119</TotalTime>
  <Words>997</Words>
  <Application>Microsoft Office PowerPoint</Application>
  <PresentationFormat>On-screen Show (16:9)</PresentationFormat>
  <Paragraphs>131</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SikLemau - Township Health Agent</dc:title>
  <dc:subject>PptxGenJS Presentation</dc:subject>
  <dc:creator>PptxGenJS</dc:creator>
  <cp:lastModifiedBy>Fatin Shadi</cp:lastModifiedBy>
  <cp:revision>5</cp:revision>
  <dcterms:created xsi:type="dcterms:W3CDTF">2026-10-23T06:37:06Z</dcterms:created>
  <dcterms:modified xsi:type="dcterms:W3CDTF">2026-10-23T09:37:36Z</dcterms:modified>
</cp:coreProperties>
</file>