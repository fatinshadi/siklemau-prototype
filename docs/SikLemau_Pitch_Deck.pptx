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name: SikLemau is Sarawak Malay for not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Seniors living alone can go unnoticed. Malaysia is ageing; add a source if you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Pak Cik Ahmad, 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acts and escalates, not just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MyNutriDiari 2 and generic health chatbots.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Prototype simulates the flow with synthetic data. Production is a Telegram bot with an AI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proposed measures,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on false alarms, privacy and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Targets are proposals to be 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85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data. Prototype simulates the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p:bgPr>
    </p:bg>
    <p:spTree>
      <p:nvGrpSpPr>
        <p:cNvPr id="1" name=""/>
        <p:cNvGrpSpPr/>
        <p:nvPr/>
      </p:nvGrpSpPr>
      <p:grpSpPr>
        <a:xfrm>
          <a:off x="0" y="0"/>
          <a:ext cx="0" cy="0"/>
          <a:chOff x="0" y="0"/>
          <a:chExt cx="0" cy="0"/>
        </a:xfrm>
      </p:grpSpPr>
      <p:sp>
        <p:nvSpPr>
          <p:cNvPr id="3" name="Text 0"/>
          <p:cNvSpPr txBox="1"/>
          <p:nvPr/>
        </p:nvSpPr>
        <p:spPr>
          <a:xfrm>
            <a:off x="548640" y="457200"/>
            <a:ext cx="804672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SikLemau</a:t>
            </a:r>
            <a:endParaRPr lang="en-US" sz="4800" dirty="0"/>
          </a:p>
        </p:txBody>
      </p:sp>
      <p:sp>
        <p:nvSpPr>
          <p:cNvPr id="4" name="Text 1"/>
          <p:cNvSpPr txBox="1"/>
          <p:nvPr/>
        </p:nvSpPr>
        <p:spPr>
          <a:xfrm>
            <a:off x="548640" y="1280160"/>
            <a:ext cx="8046720" cy="457200"/>
          </a:xfrm>
          <a:prstGeom prst="rect">
            <a:avLst/>
          </a:prstGeom>
          <a:noFill/>
          <a:ln/>
        </p:spPr>
        <p:txBody>
          <a:bodyPr wrap="square" lIns="0" tIns="0" rIns="0" bIns="0" rtlCol="0" anchor="ctr"/>
          <a:lstStyle/>
          <a:p>
            <a:pPr indent="0" marL="0">
              <a:buNone/>
            </a:pPr>
            <a:r>
              <a:rPr lang="en-US" sz="1800" i="1" dirty="0">
                <a:solidFill>
                  <a:srgbClr val="8FDCB6"/>
                </a:solidFill>
                <a:latin typeface="Calibri" pitchFamily="34" charset="0"/>
                <a:ea typeface="Calibri" pitchFamily="34" charset="-122"/>
                <a:cs typeface="Calibri" pitchFamily="34" charset="-120"/>
              </a:rPr>
              <a:t>Sik lemau, sik mau lemau. Township health agent prototype.</a:t>
            </a:r>
            <a:endParaRPr lang="en-US" sz="1800" dirty="0"/>
          </a:p>
        </p:txBody>
      </p:sp>
      <p:sp>
        <p:nvSpPr>
          <p:cNvPr id="5" name="Text 2"/>
          <p:cNvSpPr txBox="1"/>
          <p:nvPr/>
        </p:nvSpPr>
        <p:spPr>
          <a:xfrm>
            <a:off x="548640" y="2194560"/>
            <a:ext cx="8046720" cy="1828800"/>
          </a:xfrm>
          <a:prstGeom prst="rect">
            <a:avLst/>
          </a:prstGeom>
          <a:noFill/>
          <a:ln/>
        </p:spPr>
        <p:txBody>
          <a:bodyPr wrap="square" lIns="0" tIns="0" rIns="0" bIns="0" rtlCol="0" anchor="ctr"/>
          <a:lstStyle/>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Team name: Alpha-5</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Team leader: [Name]</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University: [University]</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Members: [Names, courses]</a:t>
            </a:r>
            <a:endParaRPr lang="en-US" sz="1600" dirty="0"/>
          </a:p>
          <a:p>
            <a:pPr indent="0" marL="0">
              <a:spcAft>
                <a:spcPts val="600"/>
              </a:spcAft>
              <a:buNone/>
            </a:pPr>
            <a:r>
              <a:rPr lang="en-US" sz="1600" dirty="0">
                <a:solidFill>
                  <a:srgbClr val="FFFFFF"/>
                </a:solidFill>
                <a:latin typeface="Calibri" pitchFamily="34" charset="0"/>
                <a:ea typeface="Calibri" pitchFamily="34" charset="-122"/>
                <a:cs typeface="Calibri" pitchFamily="34" charset="-120"/>
              </a:rPr>
              <a:t>Email: [Email]   Contact: [Phone]</a:t>
            </a:r>
            <a:endParaRPr lang="en-US" sz="1600" dirty="0"/>
          </a:p>
        </p:txBody>
      </p:sp>
      <p:sp>
        <p:nvSpPr>
          <p:cNvPr id="6" name="Text 3"/>
          <p:cNvSpPr txBox="1"/>
          <p:nvPr/>
        </p:nvSpPr>
        <p:spPr>
          <a:xfrm>
            <a:off x="548640" y="4297680"/>
            <a:ext cx="8046720" cy="365760"/>
          </a:xfrm>
          <a:prstGeom prst="rect">
            <a:avLst/>
          </a:prstGeom>
          <a:noFill/>
          <a:ln/>
        </p:spPr>
        <p:txBody>
          <a:bodyPr wrap="square" lIns="0" tIns="0" rIns="0" bIns="0" rtlCol="0" anchor="ctr"/>
          <a:lstStyle/>
          <a:p>
            <a:pPr indent="0" marL="0">
              <a:buNone/>
            </a:pPr>
            <a:r>
              <a:rPr lang="en-US" sz="1300" dirty="0">
                <a:solidFill>
                  <a:srgbClr val="BFD8CE"/>
                </a:solidFill>
                <a:latin typeface="Calibri" pitchFamily="34" charset="0"/>
                <a:ea typeface="Calibri" pitchFamily="34" charset="-122"/>
                <a:cs typeface="Calibri" pitchFamily="34" charset="-120"/>
              </a:rPr>
              <a:t>Sime Darby Property University Hackathon 2026 · People track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7"/>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libri" pitchFamily="34" charset="0"/>
                <a:ea typeface="Calibri" pitchFamily="34" charset="-122"/>
                <a:cs typeface="Calibri" pitchFamily="34" charset="-120"/>
              </a:rPr>
              <a:t>1. The Problem</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B6B64"/>
                </a:solidFill>
                <a:latin typeface="Calibri" pitchFamily="34" charset="0"/>
                <a:ea typeface="Calibri" pitchFamily="34" charset="-122"/>
                <a:cs typeface="Calibri" pitchFamily="34" charset="-120"/>
              </a:rPr>
              <a:t>Who is affected and why it matters</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280160"/>
            <a:ext cx="2606040" cy="2560320"/>
          </a:xfrm>
          <a:prstGeom prst="roundRect">
            <a:avLst>
              <a:gd name="adj" fmla="val 3571"/>
            </a:avLst>
          </a:prstGeom>
          <a:solidFill>
            <a:srgbClr val="FFFFFF"/>
          </a:solidFill>
          <a:ln w="12700">
            <a:solidFill>
              <a:srgbClr val="DBE3DF"/>
            </a:solidFill>
            <a:prstDash val="solid"/>
          </a:ln>
        </p:spPr>
      </p:sp>
      <p:sp>
        <p:nvSpPr>
          <p:cNvPr id="7" name="Shape 4"/>
          <p:cNvSpPr/>
          <p:nvPr/>
        </p:nvSpPr>
        <p:spPr>
          <a:xfrm>
            <a:off x="594360" y="1417320"/>
            <a:ext cx="73152" cy="320040"/>
          </a:xfrm>
          <a:prstGeom prst="rect">
            <a:avLst/>
          </a:prstGeom>
          <a:solidFill>
            <a:srgbClr val="0F8A5F"/>
          </a:solidFill>
          <a:ln w="12700">
            <a:solidFill>
              <a:srgbClr val="0F8A5F"/>
            </a:solidFill>
            <a:prstDash val="solid"/>
          </a:ln>
        </p:spPr>
      </p:sp>
      <p:sp>
        <p:nvSpPr>
          <p:cNvPr id="8" name="Text 5"/>
          <p:cNvSpPr txBox="1"/>
          <p:nvPr/>
        </p:nvSpPr>
        <p:spPr>
          <a:xfrm>
            <a:off x="731520" y="1371600"/>
            <a:ext cx="2194560" cy="411480"/>
          </a:xfrm>
          <a:prstGeom prst="rect">
            <a:avLst/>
          </a:prstGeom>
          <a:noFill/>
          <a:ln/>
        </p:spPr>
        <p:txBody>
          <a:bodyPr wrap="square" lIns="0" tIns="0" rIns="0" bIns="0" rtlCol="0" anchor="ctr"/>
          <a:lstStyle/>
          <a:p>
            <a:pPr indent="0" marL="0">
              <a:buNone/>
            </a:pPr>
            <a:r>
              <a:rPr lang="en-US" sz="1500" b="1" dirty="0">
                <a:solidFill>
                  <a:srgbClr val="0B3D2E"/>
                </a:solidFill>
                <a:latin typeface="Calibri" pitchFamily="34" charset="0"/>
                <a:ea typeface="Calibri" pitchFamily="34" charset="-122"/>
                <a:cs typeface="Calibri" pitchFamily="34" charset="-120"/>
              </a:rPr>
              <a:t>Unnoticed in a crisis</a:t>
            </a:r>
            <a:endParaRPr lang="en-US" sz="1500" dirty="0"/>
          </a:p>
        </p:txBody>
      </p:sp>
      <p:sp>
        <p:nvSpPr>
          <p:cNvPr id="9" name="Text 6"/>
          <p:cNvSpPr txBox="1"/>
          <p:nvPr/>
        </p:nvSpPr>
        <p:spPr>
          <a:xfrm>
            <a:off x="640080" y="1874520"/>
            <a:ext cx="2240280" cy="187452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Residents who live alone, especially seniors, can go unnoticed for hours after a fall or health event.</a:t>
            </a:r>
            <a:endParaRPr lang="en-US" sz="1250" dirty="0"/>
          </a:p>
        </p:txBody>
      </p:sp>
      <p:sp>
        <p:nvSpPr>
          <p:cNvPr id="10" name="Shape 7"/>
          <p:cNvSpPr/>
          <p:nvPr/>
        </p:nvSpPr>
        <p:spPr>
          <a:xfrm>
            <a:off x="3268980" y="1280160"/>
            <a:ext cx="2606040" cy="2560320"/>
          </a:xfrm>
          <a:prstGeom prst="roundRect">
            <a:avLst>
              <a:gd name="adj" fmla="val 3571"/>
            </a:avLst>
          </a:prstGeom>
          <a:solidFill>
            <a:srgbClr val="FFFFFF"/>
          </a:solidFill>
          <a:ln w="12700">
            <a:solidFill>
              <a:srgbClr val="DBE3DF"/>
            </a:solidFill>
            <a:prstDash val="solid"/>
          </a:ln>
        </p:spPr>
      </p:sp>
      <p:sp>
        <p:nvSpPr>
          <p:cNvPr id="11" name="Shape 8"/>
          <p:cNvSpPr/>
          <p:nvPr/>
        </p:nvSpPr>
        <p:spPr>
          <a:xfrm>
            <a:off x="3406140" y="1417320"/>
            <a:ext cx="73152" cy="320040"/>
          </a:xfrm>
          <a:prstGeom prst="rect">
            <a:avLst/>
          </a:prstGeom>
          <a:solidFill>
            <a:srgbClr val="0F8A5F"/>
          </a:solidFill>
          <a:ln w="12700">
            <a:solidFill>
              <a:srgbClr val="0F8A5F"/>
            </a:solidFill>
            <a:prstDash val="solid"/>
          </a:ln>
        </p:spPr>
      </p:sp>
      <p:sp>
        <p:nvSpPr>
          <p:cNvPr id="12" name="Text 9"/>
          <p:cNvSpPr txBox="1"/>
          <p:nvPr/>
        </p:nvSpPr>
        <p:spPr>
          <a:xfrm>
            <a:off x="3543300" y="1371600"/>
            <a:ext cx="2194560" cy="411480"/>
          </a:xfrm>
          <a:prstGeom prst="rect">
            <a:avLst/>
          </a:prstGeom>
          <a:noFill/>
          <a:ln/>
        </p:spPr>
        <p:txBody>
          <a:bodyPr wrap="square" lIns="0" tIns="0" rIns="0" bIns="0" rtlCol="0" anchor="ctr"/>
          <a:lstStyle/>
          <a:p>
            <a:pPr indent="0" marL="0">
              <a:buNone/>
            </a:pPr>
            <a:r>
              <a:rPr lang="en-US" sz="1500" b="1" dirty="0">
                <a:solidFill>
                  <a:srgbClr val="0B3D2E"/>
                </a:solidFill>
                <a:latin typeface="Calibri" pitchFamily="34" charset="0"/>
                <a:ea typeface="Calibri" pitchFamily="34" charset="-122"/>
                <a:cs typeface="Calibri" pitchFamily="34" charset="-120"/>
              </a:rPr>
              <a:t>Passive, individual apps</a:t>
            </a:r>
            <a:endParaRPr lang="en-US" sz="1500" dirty="0"/>
          </a:p>
        </p:txBody>
      </p:sp>
      <p:sp>
        <p:nvSpPr>
          <p:cNvPr id="13" name="Text 10"/>
          <p:cNvSpPr txBox="1"/>
          <p:nvPr/>
        </p:nvSpPr>
        <p:spPr>
          <a:xfrm>
            <a:off x="3451860" y="1874520"/>
            <a:ext cx="2240280" cy="187452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Health apps wait to be opened and ignore neighbours, parks, clinics and guardhouses.</a:t>
            </a:r>
            <a:endParaRPr lang="en-US" sz="1250" dirty="0"/>
          </a:p>
        </p:txBody>
      </p:sp>
      <p:sp>
        <p:nvSpPr>
          <p:cNvPr id="14" name="Shape 11"/>
          <p:cNvSpPr/>
          <p:nvPr/>
        </p:nvSpPr>
        <p:spPr>
          <a:xfrm>
            <a:off x="6080760" y="1280160"/>
            <a:ext cx="2606040" cy="2560320"/>
          </a:xfrm>
          <a:prstGeom prst="roundRect">
            <a:avLst>
              <a:gd name="adj" fmla="val 3571"/>
            </a:avLst>
          </a:prstGeom>
          <a:solidFill>
            <a:srgbClr val="FFFFFF"/>
          </a:solidFill>
          <a:ln w="12700">
            <a:solidFill>
              <a:srgbClr val="DBE3DF"/>
            </a:solidFill>
            <a:prstDash val="solid"/>
          </a:ln>
        </p:spPr>
      </p:sp>
      <p:sp>
        <p:nvSpPr>
          <p:cNvPr id="15" name="Shape 12"/>
          <p:cNvSpPr/>
          <p:nvPr/>
        </p:nvSpPr>
        <p:spPr>
          <a:xfrm>
            <a:off x="6217920" y="1417320"/>
            <a:ext cx="73152" cy="320040"/>
          </a:xfrm>
          <a:prstGeom prst="rect">
            <a:avLst/>
          </a:prstGeom>
          <a:solidFill>
            <a:srgbClr val="0F8A5F"/>
          </a:solidFill>
          <a:ln w="12700">
            <a:solidFill>
              <a:srgbClr val="0F8A5F"/>
            </a:solidFill>
            <a:prstDash val="solid"/>
          </a:ln>
        </p:spPr>
      </p:sp>
      <p:sp>
        <p:nvSpPr>
          <p:cNvPr id="16" name="Text 13"/>
          <p:cNvSpPr txBox="1"/>
          <p:nvPr/>
        </p:nvSpPr>
        <p:spPr>
          <a:xfrm>
            <a:off x="6355080" y="1371600"/>
            <a:ext cx="2194560" cy="411480"/>
          </a:xfrm>
          <a:prstGeom prst="rect">
            <a:avLst/>
          </a:prstGeom>
          <a:noFill/>
          <a:ln/>
        </p:spPr>
        <p:txBody>
          <a:bodyPr wrap="square" lIns="0" tIns="0" rIns="0" bIns="0" rtlCol="0" anchor="ctr"/>
          <a:lstStyle/>
          <a:p>
            <a:pPr indent="0" marL="0">
              <a:buNone/>
            </a:pPr>
            <a:r>
              <a:rPr lang="en-US" sz="1500" b="1" dirty="0">
                <a:solidFill>
                  <a:srgbClr val="0B3D2E"/>
                </a:solidFill>
                <a:latin typeface="Calibri" pitchFamily="34" charset="0"/>
                <a:ea typeface="Calibri" pitchFamily="34" charset="-122"/>
                <a:cs typeface="Calibri" pitchFamily="34" charset="-120"/>
              </a:rPr>
              <a:t>No township signal</a:t>
            </a:r>
            <a:endParaRPr lang="en-US" sz="1500" dirty="0"/>
          </a:p>
        </p:txBody>
      </p:sp>
      <p:sp>
        <p:nvSpPr>
          <p:cNvPr id="17" name="Text 14"/>
          <p:cNvSpPr txBox="1"/>
          <p:nvPr/>
        </p:nvSpPr>
        <p:spPr>
          <a:xfrm>
            <a:off x="6263640" y="1874520"/>
            <a:ext cx="2240280" cy="187452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Management cannot see who is isolated or where shade, lighting and benches are missing.</a:t>
            </a:r>
            <a:endParaRPr lang="en-US" sz="1250" dirty="0"/>
          </a:p>
        </p:txBody>
      </p:sp>
      <p:sp>
        <p:nvSpPr>
          <p:cNvPr id="18" name="Text 15"/>
          <p:cNvSpPr txBox="1"/>
          <p:nvPr/>
        </p:nvSpPr>
        <p:spPr>
          <a:xfrm>
            <a:off x="457200" y="4114800"/>
            <a:ext cx="8229600" cy="457200"/>
          </a:xfrm>
          <a:prstGeom prst="rect">
            <a:avLst/>
          </a:prstGeom>
          <a:noFill/>
          <a:ln/>
        </p:spPr>
        <p:txBody>
          <a:bodyPr wrap="square" lIns="0" tIns="0" rIns="0" bIns="0" rtlCol="0" anchor="ctr"/>
          <a:lstStyle/>
          <a:p>
            <a:pPr indent="0" marL="0">
              <a:buNone/>
            </a:pPr>
            <a:r>
              <a:rPr lang="en-US" sz="1500" i="1" dirty="0">
                <a:solidFill>
                  <a:srgbClr val="0F8A5F"/>
                </a:solidFill>
                <a:latin typeface="Calibri" pitchFamily="34" charset="0"/>
                <a:ea typeface="Calibri" pitchFamily="34" charset="-122"/>
                <a:cs typeface="Calibri" pitchFamily="34" charset="-120"/>
              </a:rPr>
              <a:t>Malaysia is ageing, so more households with older residents are coming to every township.</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7"/>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libri" pitchFamily="34" charset="0"/>
                <a:ea typeface="Calibri" pitchFamily="34" charset="-122"/>
                <a:cs typeface="Calibri" pitchFamily="34" charset="-120"/>
              </a:rPr>
              <a:t>2. Target User</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B6B64"/>
                </a:solidFill>
                <a:latin typeface="Calibri" pitchFamily="34" charset="0"/>
                <a:ea typeface="Calibri" pitchFamily="34" charset="-122"/>
                <a:cs typeface="Calibri" pitchFamily="34" charset="-120"/>
              </a:rPr>
              <a:t>Who benefits, and their challenges</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280160"/>
            <a:ext cx="1920240" cy="2926080"/>
          </a:xfrm>
          <a:prstGeom prst="roundRect">
            <a:avLst>
              <a:gd name="adj" fmla="val 4762"/>
            </a:avLst>
          </a:prstGeom>
          <a:solidFill>
            <a:srgbClr val="FFFFFF"/>
          </a:solidFill>
          <a:ln w="12700">
            <a:solidFill>
              <a:srgbClr val="DBE3DF"/>
            </a:solidFill>
            <a:prstDash val="solid"/>
          </a:ln>
        </p:spPr>
      </p:sp>
      <p:sp>
        <p:nvSpPr>
          <p:cNvPr id="7" name="Shape 4"/>
          <p:cNvSpPr/>
          <p:nvPr/>
        </p:nvSpPr>
        <p:spPr>
          <a:xfrm>
            <a:off x="594360" y="1417320"/>
            <a:ext cx="73152" cy="320040"/>
          </a:xfrm>
          <a:prstGeom prst="rect">
            <a:avLst/>
          </a:prstGeom>
          <a:solidFill>
            <a:srgbClr val="0F8A5F"/>
          </a:solidFill>
          <a:ln w="12700">
            <a:solidFill>
              <a:srgbClr val="0F8A5F"/>
            </a:solidFill>
            <a:prstDash val="solid"/>
          </a:ln>
        </p:spPr>
      </p:sp>
      <p:sp>
        <p:nvSpPr>
          <p:cNvPr id="8" name="Text 5"/>
          <p:cNvSpPr txBox="1"/>
          <p:nvPr/>
        </p:nvSpPr>
        <p:spPr>
          <a:xfrm>
            <a:off x="731520" y="1371600"/>
            <a:ext cx="1508760" cy="41148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Older residents</a:t>
            </a:r>
            <a:endParaRPr lang="en-US" sz="1400" dirty="0"/>
          </a:p>
        </p:txBody>
      </p:sp>
      <p:sp>
        <p:nvSpPr>
          <p:cNvPr id="9" name="Text 6"/>
          <p:cNvSpPr txBox="1"/>
          <p:nvPr/>
        </p:nvSpPr>
        <p:spPr>
          <a:xfrm>
            <a:off x="640080" y="1874520"/>
            <a:ext cx="1554480" cy="224028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People living alone, like Pak Cik Ahmad, 72. Want help without losing independence.</a:t>
            </a:r>
            <a:endParaRPr lang="en-US" sz="1250" dirty="0"/>
          </a:p>
        </p:txBody>
      </p:sp>
      <p:sp>
        <p:nvSpPr>
          <p:cNvPr id="10" name="Shape 7"/>
          <p:cNvSpPr/>
          <p:nvPr/>
        </p:nvSpPr>
        <p:spPr>
          <a:xfrm>
            <a:off x="2491740" y="1280160"/>
            <a:ext cx="1920240" cy="2926080"/>
          </a:xfrm>
          <a:prstGeom prst="roundRect">
            <a:avLst>
              <a:gd name="adj" fmla="val 4762"/>
            </a:avLst>
          </a:prstGeom>
          <a:solidFill>
            <a:srgbClr val="FFFFFF"/>
          </a:solidFill>
          <a:ln w="12700">
            <a:solidFill>
              <a:srgbClr val="DBE3DF"/>
            </a:solidFill>
            <a:prstDash val="solid"/>
          </a:ln>
        </p:spPr>
      </p:sp>
      <p:sp>
        <p:nvSpPr>
          <p:cNvPr id="11" name="Shape 8"/>
          <p:cNvSpPr/>
          <p:nvPr/>
        </p:nvSpPr>
        <p:spPr>
          <a:xfrm>
            <a:off x="2628900" y="1417320"/>
            <a:ext cx="73152" cy="320040"/>
          </a:xfrm>
          <a:prstGeom prst="rect">
            <a:avLst/>
          </a:prstGeom>
          <a:solidFill>
            <a:srgbClr val="0F8A5F"/>
          </a:solidFill>
          <a:ln w="12700">
            <a:solidFill>
              <a:srgbClr val="0F8A5F"/>
            </a:solidFill>
            <a:prstDash val="solid"/>
          </a:ln>
        </p:spPr>
      </p:sp>
      <p:sp>
        <p:nvSpPr>
          <p:cNvPr id="12" name="Text 9"/>
          <p:cNvSpPr txBox="1"/>
          <p:nvPr/>
        </p:nvSpPr>
        <p:spPr>
          <a:xfrm>
            <a:off x="2766060" y="1371600"/>
            <a:ext cx="1508760" cy="41148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Families</a:t>
            </a:r>
            <a:endParaRPr lang="en-US" sz="1400" dirty="0"/>
          </a:p>
        </p:txBody>
      </p:sp>
      <p:sp>
        <p:nvSpPr>
          <p:cNvPr id="13" name="Text 10"/>
          <p:cNvSpPr txBox="1"/>
          <p:nvPr/>
        </p:nvSpPr>
        <p:spPr>
          <a:xfrm>
            <a:off x="2674620" y="1874520"/>
            <a:ext cx="1554480" cy="224028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Worry from afar. Need clear, timely alerts.</a:t>
            </a:r>
            <a:endParaRPr lang="en-US" sz="1250" dirty="0"/>
          </a:p>
        </p:txBody>
      </p:sp>
      <p:sp>
        <p:nvSpPr>
          <p:cNvPr id="14" name="Shape 11"/>
          <p:cNvSpPr/>
          <p:nvPr/>
        </p:nvSpPr>
        <p:spPr>
          <a:xfrm>
            <a:off x="4526280" y="1280160"/>
            <a:ext cx="1920240" cy="2926080"/>
          </a:xfrm>
          <a:prstGeom prst="roundRect">
            <a:avLst>
              <a:gd name="adj" fmla="val 4762"/>
            </a:avLst>
          </a:prstGeom>
          <a:solidFill>
            <a:srgbClr val="FFFFFF"/>
          </a:solidFill>
          <a:ln w="12700">
            <a:solidFill>
              <a:srgbClr val="DBE3DF"/>
            </a:solidFill>
            <a:prstDash val="solid"/>
          </a:ln>
        </p:spPr>
      </p:sp>
      <p:sp>
        <p:nvSpPr>
          <p:cNvPr id="15" name="Shape 12"/>
          <p:cNvSpPr/>
          <p:nvPr/>
        </p:nvSpPr>
        <p:spPr>
          <a:xfrm>
            <a:off x="4663440" y="1417320"/>
            <a:ext cx="73152" cy="320040"/>
          </a:xfrm>
          <a:prstGeom prst="rect">
            <a:avLst/>
          </a:prstGeom>
          <a:solidFill>
            <a:srgbClr val="0F8A5F"/>
          </a:solidFill>
          <a:ln w="12700">
            <a:solidFill>
              <a:srgbClr val="0F8A5F"/>
            </a:solidFill>
            <a:prstDash val="solid"/>
          </a:ln>
        </p:spPr>
      </p:sp>
      <p:sp>
        <p:nvSpPr>
          <p:cNvPr id="16" name="Text 13"/>
          <p:cNvSpPr txBox="1"/>
          <p:nvPr/>
        </p:nvSpPr>
        <p:spPr>
          <a:xfrm>
            <a:off x="4800600" y="1371600"/>
            <a:ext cx="1508760" cy="41148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Neighbours and staff</a:t>
            </a:r>
            <a:endParaRPr lang="en-US" sz="1400" dirty="0"/>
          </a:p>
        </p:txBody>
      </p:sp>
      <p:sp>
        <p:nvSpPr>
          <p:cNvPr id="17" name="Text 14"/>
          <p:cNvSpPr txBox="1"/>
          <p:nvPr/>
        </p:nvSpPr>
        <p:spPr>
          <a:xfrm>
            <a:off x="4709160" y="1874520"/>
            <a:ext cx="1554480" cy="224028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Volunteers, guardhouse and management who can respond.</a:t>
            </a:r>
            <a:endParaRPr lang="en-US" sz="1250" dirty="0"/>
          </a:p>
        </p:txBody>
      </p:sp>
      <p:sp>
        <p:nvSpPr>
          <p:cNvPr id="18" name="Shape 15"/>
          <p:cNvSpPr/>
          <p:nvPr/>
        </p:nvSpPr>
        <p:spPr>
          <a:xfrm>
            <a:off x="6560820" y="1280160"/>
            <a:ext cx="2103120" cy="2926080"/>
          </a:xfrm>
          <a:prstGeom prst="roundRect">
            <a:avLst>
              <a:gd name="adj" fmla="val 4348"/>
            </a:avLst>
          </a:prstGeom>
          <a:solidFill>
            <a:srgbClr val="FFFFFF"/>
          </a:solidFill>
          <a:ln w="12700">
            <a:solidFill>
              <a:srgbClr val="DBE3DF"/>
            </a:solidFill>
            <a:prstDash val="solid"/>
          </a:ln>
        </p:spPr>
      </p:sp>
      <p:sp>
        <p:nvSpPr>
          <p:cNvPr id="19" name="Shape 16"/>
          <p:cNvSpPr/>
          <p:nvPr/>
        </p:nvSpPr>
        <p:spPr>
          <a:xfrm>
            <a:off x="6697980" y="1417320"/>
            <a:ext cx="73152" cy="320040"/>
          </a:xfrm>
          <a:prstGeom prst="rect">
            <a:avLst/>
          </a:prstGeom>
          <a:solidFill>
            <a:srgbClr val="0F8A5F"/>
          </a:solidFill>
          <a:ln w="12700">
            <a:solidFill>
              <a:srgbClr val="0F8A5F"/>
            </a:solidFill>
            <a:prstDash val="solid"/>
          </a:ln>
        </p:spPr>
      </p:sp>
      <p:sp>
        <p:nvSpPr>
          <p:cNvPr id="20" name="Text 17"/>
          <p:cNvSpPr txBox="1"/>
          <p:nvPr/>
        </p:nvSpPr>
        <p:spPr>
          <a:xfrm>
            <a:off x="6835140" y="1371600"/>
            <a:ext cx="1691640" cy="41148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Busy residents</a:t>
            </a:r>
            <a:endParaRPr lang="en-US" sz="1400" dirty="0"/>
          </a:p>
        </p:txBody>
      </p:sp>
      <p:sp>
        <p:nvSpPr>
          <p:cNvPr id="21" name="Text 18"/>
          <p:cNvSpPr txBox="1"/>
          <p:nvPr/>
        </p:nvSpPr>
        <p:spPr>
          <a:xfrm>
            <a:off x="6743700" y="1874520"/>
            <a:ext cx="1737360" cy="224028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Want affordable healthy meals, short workouts and stress breaks.</a:t>
            </a:r>
            <a:endParaRPr lang="en-US" sz="1250" dirty="0"/>
          </a:p>
        </p:txBody>
      </p:sp>
      <p:sp>
        <p:nvSpPr>
          <p:cNvPr id="22" name="Text 19"/>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300" dirty="0">
                <a:solidFill>
                  <a:srgbClr val="5B6B64"/>
                </a:solidFill>
                <a:latin typeface="Calibri" pitchFamily="34" charset="0"/>
                <a:ea typeface="Calibri" pitchFamily="34" charset="-122"/>
                <a:cs typeface="Calibri" pitchFamily="34" charset="-120"/>
              </a:rPr>
              <a:t>Challenges: low digital confidence and language needs (BM, English, Mandarin, Tamil).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7"/>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libri" pitchFamily="34" charset="0"/>
                <a:ea typeface="Calibri" pitchFamily="34" charset="-122"/>
                <a:cs typeface="Calibri" pitchFamily="34" charset="-120"/>
              </a:rPr>
              <a:t>3. Our Solution</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B6B64"/>
                </a:solidFill>
                <a:latin typeface="Calibri" pitchFamily="34" charset="0"/>
                <a:ea typeface="Calibri" pitchFamily="34" charset="-122"/>
                <a:cs typeface="Calibri" pitchFamily="34" charset="-120"/>
              </a:rPr>
              <a:t>An AI health agent that uses the township itself as the health system</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325880"/>
            <a:ext cx="1572768" cy="2926080"/>
          </a:xfrm>
          <a:prstGeom prst="roundRect">
            <a:avLst>
              <a:gd name="adj" fmla="val 5814"/>
            </a:avLst>
          </a:prstGeom>
          <a:solidFill>
            <a:srgbClr val="FFFFFF"/>
          </a:solidFill>
          <a:ln w="12700">
            <a:solidFill>
              <a:srgbClr val="DBE3DF"/>
            </a:solidFill>
            <a:prstDash val="solid"/>
          </a:ln>
        </p:spPr>
      </p:sp>
      <p:sp>
        <p:nvSpPr>
          <p:cNvPr id="7" name="Shape 4"/>
          <p:cNvSpPr/>
          <p:nvPr/>
        </p:nvSpPr>
        <p:spPr>
          <a:xfrm>
            <a:off x="594360" y="1463040"/>
            <a:ext cx="73152" cy="320040"/>
          </a:xfrm>
          <a:prstGeom prst="rect">
            <a:avLst/>
          </a:prstGeom>
          <a:solidFill>
            <a:srgbClr val="0F8A5F"/>
          </a:solidFill>
          <a:ln w="12700">
            <a:solidFill>
              <a:srgbClr val="0F8A5F"/>
            </a:solidFill>
            <a:prstDash val="solid"/>
          </a:ln>
        </p:spPr>
      </p:sp>
      <p:sp>
        <p:nvSpPr>
          <p:cNvPr id="8" name="Text 5"/>
          <p:cNvSpPr txBox="1"/>
          <p:nvPr/>
        </p:nvSpPr>
        <p:spPr>
          <a:xfrm>
            <a:off x="731520" y="1417320"/>
            <a:ext cx="1161288" cy="411480"/>
          </a:xfrm>
          <a:prstGeom prst="rect">
            <a:avLst/>
          </a:prstGeom>
          <a:noFill/>
          <a:ln/>
        </p:spPr>
        <p:txBody>
          <a:bodyPr wrap="square" lIns="0" tIns="0" rIns="0" bIns="0" rtlCol="0" anchor="ctr"/>
          <a:lstStyle/>
          <a:p>
            <a:pPr indent="0" marL="0">
              <a:buNone/>
            </a:pPr>
            <a:r>
              <a:rPr lang="en-US" sz="1300" b="1" dirty="0">
                <a:solidFill>
                  <a:srgbClr val="0B3D2E"/>
                </a:solidFill>
                <a:latin typeface="Calibri" pitchFamily="34" charset="0"/>
                <a:ea typeface="Calibri" pitchFamily="34" charset="-122"/>
                <a:cs typeface="Calibri" pitchFamily="34" charset="-120"/>
              </a:rPr>
              <a:t>Check-in Circle</a:t>
            </a:r>
            <a:endParaRPr lang="en-US" sz="1300" dirty="0"/>
          </a:p>
        </p:txBody>
      </p:sp>
      <p:sp>
        <p:nvSpPr>
          <p:cNvPr id="9" name="Text 6"/>
          <p:cNvSpPr txBox="1"/>
          <p:nvPr/>
        </p:nvSpPr>
        <p:spPr>
          <a:xfrm>
            <a:off x="640080" y="1920240"/>
            <a:ext cx="1207008" cy="2240280"/>
          </a:xfrm>
          <a:prstGeom prst="rect">
            <a:avLst/>
          </a:prstGeom>
          <a:noFill/>
          <a:ln/>
        </p:spPr>
        <p:txBody>
          <a:bodyPr wrap="square" lIns="0" tIns="0" rIns="0" bIns="0" rtlCol="0" anchor="t"/>
          <a:lstStyle/>
          <a:p>
            <a:pPr indent="0" marL="0">
              <a:buNone/>
            </a:pPr>
            <a:r>
              <a:rPr lang="en-US" sz="1200" dirty="0">
                <a:solidFill>
                  <a:srgbClr val="14211C"/>
                </a:solidFill>
                <a:latin typeface="Calibri" pitchFamily="34" charset="0"/>
                <a:ea typeface="Calibri" pitchFamily="34" charset="-122"/>
                <a:cs typeface="Calibri" pitchFamily="34" charset="-120"/>
              </a:rPr>
              <a:t>Daily check-in; escalates to neighbour, guardhouse, family if missed</a:t>
            </a:r>
            <a:endParaRPr lang="en-US" sz="1200" dirty="0"/>
          </a:p>
        </p:txBody>
      </p:sp>
      <p:sp>
        <p:nvSpPr>
          <p:cNvPr id="10" name="Shape 7"/>
          <p:cNvSpPr/>
          <p:nvPr/>
        </p:nvSpPr>
        <p:spPr>
          <a:xfrm>
            <a:off x="2121408" y="1325880"/>
            <a:ext cx="1572768" cy="2926080"/>
          </a:xfrm>
          <a:prstGeom prst="roundRect">
            <a:avLst>
              <a:gd name="adj" fmla="val 5814"/>
            </a:avLst>
          </a:prstGeom>
          <a:solidFill>
            <a:srgbClr val="FFFFFF"/>
          </a:solidFill>
          <a:ln w="12700">
            <a:solidFill>
              <a:srgbClr val="DBE3DF"/>
            </a:solidFill>
            <a:prstDash val="solid"/>
          </a:ln>
        </p:spPr>
      </p:sp>
      <p:sp>
        <p:nvSpPr>
          <p:cNvPr id="11" name="Shape 8"/>
          <p:cNvSpPr/>
          <p:nvPr/>
        </p:nvSpPr>
        <p:spPr>
          <a:xfrm>
            <a:off x="2258568" y="1463040"/>
            <a:ext cx="73152" cy="320040"/>
          </a:xfrm>
          <a:prstGeom prst="rect">
            <a:avLst/>
          </a:prstGeom>
          <a:solidFill>
            <a:srgbClr val="0F8A5F"/>
          </a:solidFill>
          <a:ln w="12700">
            <a:solidFill>
              <a:srgbClr val="0F8A5F"/>
            </a:solidFill>
            <a:prstDash val="solid"/>
          </a:ln>
        </p:spPr>
      </p:sp>
      <p:sp>
        <p:nvSpPr>
          <p:cNvPr id="12" name="Text 9"/>
          <p:cNvSpPr txBox="1"/>
          <p:nvPr/>
        </p:nvSpPr>
        <p:spPr>
          <a:xfrm>
            <a:off x="2395728" y="1417320"/>
            <a:ext cx="1161288" cy="411480"/>
          </a:xfrm>
          <a:prstGeom prst="rect">
            <a:avLst/>
          </a:prstGeom>
          <a:noFill/>
          <a:ln/>
        </p:spPr>
        <p:txBody>
          <a:bodyPr wrap="square" lIns="0" tIns="0" rIns="0" bIns="0" rtlCol="0" anchor="ctr"/>
          <a:lstStyle/>
          <a:p>
            <a:pPr indent="0" marL="0">
              <a:buNone/>
            </a:pPr>
            <a:r>
              <a:rPr lang="en-US" sz="1300" b="1" dirty="0">
                <a:solidFill>
                  <a:srgbClr val="0B3D2E"/>
                </a:solidFill>
                <a:latin typeface="Calibri" pitchFamily="34" charset="0"/>
                <a:ea typeface="Calibri" pitchFamily="34" charset="-122"/>
                <a:cs typeface="Calibri" pitchFamily="34" charset="-120"/>
              </a:rPr>
              <a:t>Daily Wellbeing</a:t>
            </a:r>
            <a:endParaRPr lang="en-US" sz="1300" dirty="0"/>
          </a:p>
        </p:txBody>
      </p:sp>
      <p:sp>
        <p:nvSpPr>
          <p:cNvPr id="13" name="Text 10"/>
          <p:cNvSpPr txBox="1"/>
          <p:nvPr/>
        </p:nvSpPr>
        <p:spPr>
          <a:xfrm>
            <a:off x="2304288" y="1920240"/>
            <a:ext cx="1207008" cy="2240280"/>
          </a:xfrm>
          <a:prstGeom prst="rect">
            <a:avLst/>
          </a:prstGeom>
          <a:noFill/>
          <a:ln/>
        </p:spPr>
        <p:txBody>
          <a:bodyPr wrap="square" lIns="0" tIns="0" rIns="0" bIns="0" rtlCol="0" anchor="t"/>
          <a:lstStyle/>
          <a:p>
            <a:pPr indent="0" marL="0">
              <a:buNone/>
            </a:pPr>
            <a:r>
              <a:rPr lang="en-US" sz="1200" dirty="0">
                <a:solidFill>
                  <a:srgbClr val="14211C"/>
                </a:solidFill>
                <a:latin typeface="Calibri" pitchFamily="34" charset="0"/>
                <a:ea typeface="Calibri" pitchFamily="34" charset="-122"/>
                <a:cs typeface="Calibri" pitchFamily="34" charset="-120"/>
              </a:rPr>
              <a:t>Eat, Move, Mind, using local food stalls, parks and tracks</a:t>
            </a:r>
            <a:endParaRPr lang="en-US" sz="1200" dirty="0"/>
          </a:p>
        </p:txBody>
      </p:sp>
      <p:sp>
        <p:nvSpPr>
          <p:cNvPr id="14" name="Shape 11"/>
          <p:cNvSpPr/>
          <p:nvPr/>
        </p:nvSpPr>
        <p:spPr>
          <a:xfrm>
            <a:off x="3785616" y="1325880"/>
            <a:ext cx="1572768" cy="2926080"/>
          </a:xfrm>
          <a:prstGeom prst="roundRect">
            <a:avLst>
              <a:gd name="adj" fmla="val 5814"/>
            </a:avLst>
          </a:prstGeom>
          <a:solidFill>
            <a:srgbClr val="FFFFFF"/>
          </a:solidFill>
          <a:ln w="12700">
            <a:solidFill>
              <a:srgbClr val="DBE3DF"/>
            </a:solidFill>
            <a:prstDash val="solid"/>
          </a:ln>
        </p:spPr>
      </p:sp>
      <p:sp>
        <p:nvSpPr>
          <p:cNvPr id="15" name="Shape 12"/>
          <p:cNvSpPr/>
          <p:nvPr/>
        </p:nvSpPr>
        <p:spPr>
          <a:xfrm>
            <a:off x="3922776" y="1463040"/>
            <a:ext cx="73152" cy="320040"/>
          </a:xfrm>
          <a:prstGeom prst="rect">
            <a:avLst/>
          </a:prstGeom>
          <a:solidFill>
            <a:srgbClr val="0F8A5F"/>
          </a:solidFill>
          <a:ln w="12700">
            <a:solidFill>
              <a:srgbClr val="0F8A5F"/>
            </a:solidFill>
            <a:prstDash val="solid"/>
          </a:ln>
        </p:spPr>
      </p:sp>
      <p:sp>
        <p:nvSpPr>
          <p:cNvPr id="16" name="Text 13"/>
          <p:cNvSpPr txBox="1"/>
          <p:nvPr/>
        </p:nvSpPr>
        <p:spPr>
          <a:xfrm>
            <a:off x="4059936" y="1417320"/>
            <a:ext cx="1161288" cy="411480"/>
          </a:xfrm>
          <a:prstGeom prst="rect">
            <a:avLst/>
          </a:prstGeom>
          <a:noFill/>
          <a:ln/>
        </p:spPr>
        <p:txBody>
          <a:bodyPr wrap="square" lIns="0" tIns="0" rIns="0" bIns="0" rtlCol="0" anchor="ctr"/>
          <a:lstStyle/>
          <a:p>
            <a:pPr indent="0" marL="0">
              <a:buNone/>
            </a:pPr>
            <a:r>
              <a:rPr lang="en-US" sz="1300" b="1" dirty="0">
                <a:solidFill>
                  <a:srgbClr val="0B3D2E"/>
                </a:solidFill>
                <a:latin typeface="Calibri" pitchFamily="34" charset="0"/>
                <a:ea typeface="Calibri" pitchFamily="34" charset="-122"/>
                <a:cs typeface="Calibri" pitchFamily="34" charset="-120"/>
              </a:rPr>
              <a:t>Neighbour matching</a:t>
            </a:r>
            <a:endParaRPr lang="en-US" sz="1300" dirty="0"/>
          </a:p>
        </p:txBody>
      </p:sp>
      <p:sp>
        <p:nvSpPr>
          <p:cNvPr id="17" name="Text 14"/>
          <p:cNvSpPr txBox="1"/>
          <p:nvPr/>
        </p:nvSpPr>
        <p:spPr>
          <a:xfrm>
            <a:off x="3968496" y="1920240"/>
            <a:ext cx="1207008" cy="2240280"/>
          </a:xfrm>
          <a:prstGeom prst="rect">
            <a:avLst/>
          </a:prstGeom>
          <a:noFill/>
          <a:ln/>
        </p:spPr>
        <p:txBody>
          <a:bodyPr wrap="square" lIns="0" tIns="0" rIns="0" bIns="0" rtlCol="0" anchor="t"/>
          <a:lstStyle/>
          <a:p>
            <a:pPr indent="0" marL="0">
              <a:buNone/>
            </a:pPr>
            <a:r>
              <a:rPr lang="en-US" sz="1200" dirty="0">
                <a:solidFill>
                  <a:srgbClr val="14211C"/>
                </a:solidFill>
                <a:latin typeface="Calibri" pitchFamily="34" charset="0"/>
                <a:ea typeface="Calibri" pitchFamily="34" charset="-122"/>
                <a:cs typeface="Calibri" pitchFamily="34" charset="-120"/>
              </a:rPr>
              <a:t>Walking buddies and caregiver circles, opt-in</a:t>
            </a:r>
            <a:endParaRPr lang="en-US" sz="1200" dirty="0"/>
          </a:p>
        </p:txBody>
      </p:sp>
      <p:sp>
        <p:nvSpPr>
          <p:cNvPr id="18" name="Shape 15"/>
          <p:cNvSpPr/>
          <p:nvPr/>
        </p:nvSpPr>
        <p:spPr>
          <a:xfrm>
            <a:off x="5449824" y="1325880"/>
            <a:ext cx="1572768" cy="2926080"/>
          </a:xfrm>
          <a:prstGeom prst="roundRect">
            <a:avLst>
              <a:gd name="adj" fmla="val 5814"/>
            </a:avLst>
          </a:prstGeom>
          <a:solidFill>
            <a:srgbClr val="FFFFFF"/>
          </a:solidFill>
          <a:ln w="12700">
            <a:solidFill>
              <a:srgbClr val="DBE3DF"/>
            </a:solidFill>
            <a:prstDash val="solid"/>
          </a:ln>
        </p:spPr>
      </p:sp>
      <p:sp>
        <p:nvSpPr>
          <p:cNvPr id="19" name="Shape 16"/>
          <p:cNvSpPr/>
          <p:nvPr/>
        </p:nvSpPr>
        <p:spPr>
          <a:xfrm>
            <a:off x="5586984" y="1463040"/>
            <a:ext cx="73152" cy="320040"/>
          </a:xfrm>
          <a:prstGeom prst="rect">
            <a:avLst/>
          </a:prstGeom>
          <a:solidFill>
            <a:srgbClr val="0F8A5F"/>
          </a:solidFill>
          <a:ln w="12700">
            <a:solidFill>
              <a:srgbClr val="0F8A5F"/>
            </a:solidFill>
            <a:prstDash val="solid"/>
          </a:ln>
        </p:spPr>
      </p:sp>
      <p:sp>
        <p:nvSpPr>
          <p:cNvPr id="20" name="Text 17"/>
          <p:cNvSpPr txBox="1"/>
          <p:nvPr/>
        </p:nvSpPr>
        <p:spPr>
          <a:xfrm>
            <a:off x="5724144" y="1417320"/>
            <a:ext cx="1161288" cy="411480"/>
          </a:xfrm>
          <a:prstGeom prst="rect">
            <a:avLst/>
          </a:prstGeom>
          <a:noFill/>
          <a:ln/>
        </p:spPr>
        <p:txBody>
          <a:bodyPr wrap="square" lIns="0" tIns="0" rIns="0" bIns="0" rtlCol="0" anchor="ctr"/>
          <a:lstStyle/>
          <a:p>
            <a:pPr indent="0" marL="0">
              <a:buNone/>
            </a:pPr>
            <a:r>
              <a:rPr lang="en-US" sz="1300" b="1" dirty="0">
                <a:solidFill>
                  <a:srgbClr val="0B3D2E"/>
                </a:solidFill>
                <a:latin typeface="Calibri" pitchFamily="34" charset="0"/>
                <a:ea typeface="Calibri" pitchFamily="34" charset="-122"/>
                <a:cs typeface="Calibri" pitchFamily="34" charset="-120"/>
              </a:rPr>
              <a:t>Agentic actions</a:t>
            </a:r>
            <a:endParaRPr lang="en-US" sz="1300" dirty="0"/>
          </a:p>
        </p:txBody>
      </p:sp>
      <p:sp>
        <p:nvSpPr>
          <p:cNvPr id="21" name="Text 18"/>
          <p:cNvSpPr txBox="1"/>
          <p:nvPr/>
        </p:nvSpPr>
        <p:spPr>
          <a:xfrm>
            <a:off x="5632704" y="1920240"/>
            <a:ext cx="1207008" cy="2240280"/>
          </a:xfrm>
          <a:prstGeom prst="rect">
            <a:avLst/>
          </a:prstGeom>
          <a:noFill/>
          <a:ln/>
        </p:spPr>
        <p:txBody>
          <a:bodyPr wrap="square" lIns="0" tIns="0" rIns="0" bIns="0" rtlCol="0" anchor="t"/>
          <a:lstStyle/>
          <a:p>
            <a:pPr indent="0" marL="0">
              <a:buNone/>
            </a:pPr>
            <a:r>
              <a:rPr lang="en-US" sz="1200" dirty="0">
                <a:solidFill>
                  <a:srgbClr val="14211C"/>
                </a:solidFill>
                <a:latin typeface="Calibri" pitchFamily="34" charset="0"/>
                <a:ea typeface="Calibri" pitchFamily="34" charset="-122"/>
                <a:cs typeface="Calibri" pitchFamily="34" charset="-120"/>
              </a:rPr>
              <a:t>Reminders, clinic request, report a broken light</a:t>
            </a:r>
            <a:endParaRPr lang="en-US" sz="1200" dirty="0"/>
          </a:p>
        </p:txBody>
      </p:sp>
      <p:sp>
        <p:nvSpPr>
          <p:cNvPr id="22" name="Shape 19"/>
          <p:cNvSpPr/>
          <p:nvPr/>
        </p:nvSpPr>
        <p:spPr>
          <a:xfrm>
            <a:off x="7114032" y="1325880"/>
            <a:ext cx="1572768" cy="2926080"/>
          </a:xfrm>
          <a:prstGeom prst="roundRect">
            <a:avLst>
              <a:gd name="adj" fmla="val 5814"/>
            </a:avLst>
          </a:prstGeom>
          <a:solidFill>
            <a:srgbClr val="FFFFFF"/>
          </a:solidFill>
          <a:ln w="12700">
            <a:solidFill>
              <a:srgbClr val="DBE3DF"/>
            </a:solidFill>
            <a:prstDash val="solid"/>
          </a:ln>
        </p:spPr>
      </p:sp>
      <p:sp>
        <p:nvSpPr>
          <p:cNvPr id="23" name="Shape 20"/>
          <p:cNvSpPr/>
          <p:nvPr/>
        </p:nvSpPr>
        <p:spPr>
          <a:xfrm>
            <a:off x="7251192" y="1463040"/>
            <a:ext cx="73152" cy="320040"/>
          </a:xfrm>
          <a:prstGeom prst="rect">
            <a:avLst/>
          </a:prstGeom>
          <a:solidFill>
            <a:srgbClr val="0F8A5F"/>
          </a:solidFill>
          <a:ln w="12700">
            <a:solidFill>
              <a:srgbClr val="0F8A5F"/>
            </a:solidFill>
            <a:prstDash val="solid"/>
          </a:ln>
        </p:spPr>
      </p:sp>
      <p:sp>
        <p:nvSpPr>
          <p:cNvPr id="24" name="Text 21"/>
          <p:cNvSpPr txBox="1"/>
          <p:nvPr/>
        </p:nvSpPr>
        <p:spPr>
          <a:xfrm>
            <a:off x="7388352" y="1417320"/>
            <a:ext cx="1161288" cy="411480"/>
          </a:xfrm>
          <a:prstGeom prst="rect">
            <a:avLst/>
          </a:prstGeom>
          <a:noFill/>
          <a:ln/>
        </p:spPr>
        <p:txBody>
          <a:bodyPr wrap="square" lIns="0" tIns="0" rIns="0" bIns="0" rtlCol="0" anchor="ctr"/>
          <a:lstStyle/>
          <a:p>
            <a:pPr indent="0" marL="0">
              <a:buNone/>
            </a:pPr>
            <a:r>
              <a:rPr lang="en-US" sz="1300" b="1" dirty="0">
                <a:solidFill>
                  <a:srgbClr val="0B3D2E"/>
                </a:solidFill>
                <a:latin typeface="Calibri" pitchFamily="34" charset="0"/>
                <a:ea typeface="Calibri" pitchFamily="34" charset="-122"/>
                <a:cs typeface="Calibri" pitchFamily="34" charset="-120"/>
              </a:rPr>
              <a:t>Township Insights</a:t>
            </a:r>
            <a:endParaRPr lang="en-US" sz="1300" dirty="0"/>
          </a:p>
        </p:txBody>
      </p:sp>
      <p:sp>
        <p:nvSpPr>
          <p:cNvPr id="25" name="Text 22"/>
          <p:cNvSpPr txBox="1"/>
          <p:nvPr/>
        </p:nvSpPr>
        <p:spPr>
          <a:xfrm>
            <a:off x="7296912" y="1920240"/>
            <a:ext cx="1207008" cy="2240280"/>
          </a:xfrm>
          <a:prstGeom prst="rect">
            <a:avLst/>
          </a:prstGeom>
          <a:noFill/>
          <a:ln/>
        </p:spPr>
        <p:txBody>
          <a:bodyPr wrap="square" lIns="0" tIns="0" rIns="0" bIns="0" rtlCol="0" anchor="t"/>
          <a:lstStyle/>
          <a:p>
            <a:pPr indent="0" marL="0">
              <a:buNone/>
            </a:pPr>
            <a:r>
              <a:rPr lang="en-US" sz="1200" dirty="0">
                <a:solidFill>
                  <a:srgbClr val="14211C"/>
                </a:solidFill>
                <a:latin typeface="Calibri" pitchFamily="34" charset="0"/>
                <a:ea typeface="Calibri" pitchFamily="34" charset="-122"/>
                <a:cs typeface="Calibri" pitchFamily="34" charset="-120"/>
              </a:rPr>
              <a:t>Anonymised data shows where to add shade, lighting, programmes</a:t>
            </a:r>
            <a:endParaRPr lang="en-US" sz="1200" dirty="0"/>
          </a:p>
        </p:txBody>
      </p:sp>
      <p:sp>
        <p:nvSpPr>
          <p:cNvPr id="26" name="Text 23"/>
          <p:cNvSpPr txBox="1"/>
          <p:nvPr/>
        </p:nvSpPr>
        <p:spPr>
          <a:xfrm>
            <a:off x="457200" y="4343400"/>
            <a:ext cx="8229600" cy="411480"/>
          </a:xfrm>
          <a:prstGeom prst="rect">
            <a:avLst/>
          </a:prstGeom>
          <a:noFill/>
          <a:ln/>
        </p:spPr>
        <p:txBody>
          <a:bodyPr wrap="square" lIns="0" tIns="0" rIns="0" bIns="0" rtlCol="0" anchor="ctr"/>
          <a:lstStyle/>
          <a:p>
            <a:pPr indent="0" marL="0">
              <a:buNone/>
            </a:pPr>
            <a:r>
              <a:rPr lang="en-US" sz="1200" i="1" dirty="0">
                <a:solidFill>
                  <a:srgbClr val="0F8A5F"/>
                </a:solidFill>
                <a:latin typeface="Calibri" pitchFamily="34" charset="0"/>
                <a:ea typeface="Calibri" pitchFamily="34" charset="-122"/>
                <a:cs typeface="Calibri" pitchFamily="34" charset="-120"/>
              </a:rPr>
              <a:t>Daily Wellbeing in the prototype shows 3 sample inputs and outputs only. The live agent accepts any request (typed or voice, 4 languages).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7"/>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libri" pitchFamily="34" charset="0"/>
                <a:ea typeface="Calibri" pitchFamily="34" charset="-122"/>
                <a:cs typeface="Calibri" pitchFamily="34" charset="-120"/>
              </a:rPr>
              <a:t>4. Innovation</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B6B64"/>
                </a:solidFill>
                <a:latin typeface="Calibri" pitchFamily="34" charset="0"/>
                <a:ea typeface="Calibri" pitchFamily="34" charset="-122"/>
                <a:cs typeface="Calibri" pitchFamily="34" charset="-120"/>
              </a:rPr>
              <a:t>What makes it different</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280160"/>
            <a:ext cx="2606040" cy="2651760"/>
          </a:xfrm>
          <a:prstGeom prst="roundRect">
            <a:avLst>
              <a:gd name="adj" fmla="val 3509"/>
            </a:avLst>
          </a:prstGeom>
          <a:solidFill>
            <a:srgbClr val="FFFFFF"/>
          </a:solidFill>
          <a:ln w="12700">
            <a:solidFill>
              <a:srgbClr val="DBE3DF"/>
            </a:solidFill>
            <a:prstDash val="solid"/>
          </a:ln>
        </p:spPr>
      </p:sp>
      <p:sp>
        <p:nvSpPr>
          <p:cNvPr id="7" name="Shape 4"/>
          <p:cNvSpPr/>
          <p:nvPr/>
        </p:nvSpPr>
        <p:spPr>
          <a:xfrm>
            <a:off x="594360" y="1417320"/>
            <a:ext cx="73152" cy="320040"/>
          </a:xfrm>
          <a:prstGeom prst="rect">
            <a:avLst/>
          </a:prstGeom>
          <a:solidFill>
            <a:srgbClr val="0F8A5F"/>
          </a:solidFill>
          <a:ln w="12700">
            <a:solidFill>
              <a:srgbClr val="0F8A5F"/>
            </a:solidFill>
            <a:prstDash val="solid"/>
          </a:ln>
        </p:spPr>
      </p:sp>
      <p:sp>
        <p:nvSpPr>
          <p:cNvPr id="8" name="Text 5"/>
          <p:cNvSpPr txBox="1"/>
          <p:nvPr/>
        </p:nvSpPr>
        <p:spPr>
          <a:xfrm>
            <a:off x="731520" y="1371600"/>
            <a:ext cx="2194560" cy="411480"/>
          </a:xfrm>
          <a:prstGeom prst="rect">
            <a:avLst/>
          </a:prstGeom>
          <a:noFill/>
          <a:ln/>
        </p:spPr>
        <p:txBody>
          <a:bodyPr wrap="square" lIns="0" tIns="0" rIns="0" bIns="0" rtlCol="0" anchor="ctr"/>
          <a:lstStyle/>
          <a:p>
            <a:pPr indent="0" marL="0">
              <a:buNone/>
            </a:pPr>
            <a:r>
              <a:rPr lang="en-US" sz="1500" b="1" dirty="0">
                <a:solidFill>
                  <a:srgbClr val="0B3D2E"/>
                </a:solidFill>
                <a:latin typeface="Calibri" pitchFamily="34" charset="0"/>
                <a:ea typeface="Calibri" pitchFamily="34" charset="-122"/>
                <a:cs typeface="Calibri" pitchFamily="34" charset="-120"/>
              </a:rPr>
              <a:t>Proactive</a:t>
            </a:r>
            <a:endParaRPr lang="en-US" sz="1500" dirty="0"/>
          </a:p>
        </p:txBody>
      </p:sp>
      <p:sp>
        <p:nvSpPr>
          <p:cNvPr id="9" name="Text 6"/>
          <p:cNvSpPr txBox="1"/>
          <p:nvPr/>
        </p:nvSpPr>
        <p:spPr>
          <a:xfrm>
            <a:off x="640080" y="1874520"/>
            <a:ext cx="2240280" cy="196596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The agent checks in, acts and escalates. It does not wait to be asked.</a:t>
            </a:r>
            <a:endParaRPr lang="en-US" sz="1250" dirty="0"/>
          </a:p>
        </p:txBody>
      </p:sp>
      <p:sp>
        <p:nvSpPr>
          <p:cNvPr id="10" name="Shape 7"/>
          <p:cNvSpPr/>
          <p:nvPr/>
        </p:nvSpPr>
        <p:spPr>
          <a:xfrm>
            <a:off x="3268980" y="1280160"/>
            <a:ext cx="2606040" cy="2651760"/>
          </a:xfrm>
          <a:prstGeom prst="roundRect">
            <a:avLst>
              <a:gd name="adj" fmla="val 3509"/>
            </a:avLst>
          </a:prstGeom>
          <a:solidFill>
            <a:srgbClr val="FFFFFF"/>
          </a:solidFill>
          <a:ln w="12700">
            <a:solidFill>
              <a:srgbClr val="DBE3DF"/>
            </a:solidFill>
            <a:prstDash val="solid"/>
          </a:ln>
        </p:spPr>
      </p:sp>
      <p:sp>
        <p:nvSpPr>
          <p:cNvPr id="11" name="Shape 8"/>
          <p:cNvSpPr/>
          <p:nvPr/>
        </p:nvSpPr>
        <p:spPr>
          <a:xfrm>
            <a:off x="3406140" y="1417320"/>
            <a:ext cx="73152" cy="320040"/>
          </a:xfrm>
          <a:prstGeom prst="rect">
            <a:avLst/>
          </a:prstGeom>
          <a:solidFill>
            <a:srgbClr val="0F8A5F"/>
          </a:solidFill>
          <a:ln w="12700">
            <a:solidFill>
              <a:srgbClr val="0F8A5F"/>
            </a:solidFill>
            <a:prstDash val="solid"/>
          </a:ln>
        </p:spPr>
      </p:sp>
      <p:sp>
        <p:nvSpPr>
          <p:cNvPr id="12" name="Text 9"/>
          <p:cNvSpPr txBox="1"/>
          <p:nvPr/>
        </p:nvSpPr>
        <p:spPr>
          <a:xfrm>
            <a:off x="3543300" y="1371600"/>
            <a:ext cx="2194560" cy="411480"/>
          </a:xfrm>
          <a:prstGeom prst="rect">
            <a:avLst/>
          </a:prstGeom>
          <a:noFill/>
          <a:ln/>
        </p:spPr>
        <p:txBody>
          <a:bodyPr wrap="square" lIns="0" tIns="0" rIns="0" bIns="0" rtlCol="0" anchor="ctr"/>
          <a:lstStyle/>
          <a:p>
            <a:pPr indent="0" marL="0">
              <a:buNone/>
            </a:pPr>
            <a:r>
              <a:rPr lang="en-US" sz="1500" b="1" dirty="0">
                <a:solidFill>
                  <a:srgbClr val="0B3D2E"/>
                </a:solidFill>
                <a:latin typeface="Calibri" pitchFamily="34" charset="0"/>
                <a:ea typeface="Calibri" pitchFamily="34" charset="-122"/>
                <a:cs typeface="Calibri" pitchFamily="34" charset="-120"/>
              </a:rPr>
              <a:t>Township-aware</a:t>
            </a:r>
            <a:endParaRPr lang="en-US" sz="1500" dirty="0"/>
          </a:p>
        </p:txBody>
      </p:sp>
      <p:sp>
        <p:nvSpPr>
          <p:cNvPr id="13" name="Text 10"/>
          <p:cNvSpPr txBox="1"/>
          <p:nvPr/>
        </p:nvSpPr>
        <p:spPr>
          <a:xfrm>
            <a:off x="3451860" y="1874520"/>
            <a:ext cx="2240280" cy="196596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Uses real parks, tracks, food stalls, clinics and guardhouses of one community.</a:t>
            </a:r>
            <a:endParaRPr lang="en-US" sz="1250" dirty="0"/>
          </a:p>
        </p:txBody>
      </p:sp>
      <p:sp>
        <p:nvSpPr>
          <p:cNvPr id="14" name="Shape 11"/>
          <p:cNvSpPr/>
          <p:nvPr/>
        </p:nvSpPr>
        <p:spPr>
          <a:xfrm>
            <a:off x="6080760" y="1280160"/>
            <a:ext cx="2606040" cy="2651760"/>
          </a:xfrm>
          <a:prstGeom prst="roundRect">
            <a:avLst>
              <a:gd name="adj" fmla="val 3509"/>
            </a:avLst>
          </a:prstGeom>
          <a:solidFill>
            <a:srgbClr val="FFFFFF"/>
          </a:solidFill>
          <a:ln w="12700">
            <a:solidFill>
              <a:srgbClr val="DBE3DF"/>
            </a:solidFill>
            <a:prstDash val="solid"/>
          </a:ln>
        </p:spPr>
      </p:sp>
      <p:sp>
        <p:nvSpPr>
          <p:cNvPr id="15" name="Shape 12"/>
          <p:cNvSpPr/>
          <p:nvPr/>
        </p:nvSpPr>
        <p:spPr>
          <a:xfrm>
            <a:off x="6217920" y="1417320"/>
            <a:ext cx="73152" cy="320040"/>
          </a:xfrm>
          <a:prstGeom prst="rect">
            <a:avLst/>
          </a:prstGeom>
          <a:solidFill>
            <a:srgbClr val="0F8A5F"/>
          </a:solidFill>
          <a:ln w="12700">
            <a:solidFill>
              <a:srgbClr val="0F8A5F"/>
            </a:solidFill>
            <a:prstDash val="solid"/>
          </a:ln>
        </p:spPr>
      </p:sp>
      <p:sp>
        <p:nvSpPr>
          <p:cNvPr id="16" name="Text 13"/>
          <p:cNvSpPr txBox="1"/>
          <p:nvPr/>
        </p:nvSpPr>
        <p:spPr>
          <a:xfrm>
            <a:off x="6355080" y="1371600"/>
            <a:ext cx="2194560" cy="411480"/>
          </a:xfrm>
          <a:prstGeom prst="rect">
            <a:avLst/>
          </a:prstGeom>
          <a:noFill/>
          <a:ln/>
        </p:spPr>
        <p:txBody>
          <a:bodyPr wrap="square" lIns="0" tIns="0" rIns="0" bIns="0" rtlCol="0" anchor="ctr"/>
          <a:lstStyle/>
          <a:p>
            <a:pPr indent="0" marL="0">
              <a:buNone/>
            </a:pPr>
            <a:r>
              <a:rPr lang="en-US" sz="1500" b="1" dirty="0">
                <a:solidFill>
                  <a:srgbClr val="0B3D2E"/>
                </a:solidFill>
                <a:latin typeface="Calibri" pitchFamily="34" charset="0"/>
                <a:ea typeface="Calibri" pitchFamily="34" charset="-122"/>
                <a:cs typeface="Calibri" pitchFamily="34" charset="-120"/>
              </a:rPr>
              <a:t>Community-based</a:t>
            </a:r>
            <a:endParaRPr lang="en-US" sz="1500" dirty="0"/>
          </a:p>
        </p:txBody>
      </p:sp>
      <p:sp>
        <p:nvSpPr>
          <p:cNvPr id="17" name="Text 14"/>
          <p:cNvSpPr txBox="1"/>
          <p:nvPr/>
        </p:nvSpPr>
        <p:spPr>
          <a:xfrm>
            <a:off x="6263640" y="1874520"/>
            <a:ext cx="2240280" cy="196596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Neighbours are part of the solution, with consent at every step.</a:t>
            </a:r>
            <a:endParaRPr lang="en-US" sz="1250" dirty="0"/>
          </a:p>
        </p:txBody>
      </p:sp>
      <p:sp>
        <p:nvSpPr>
          <p:cNvPr id="18" name="Text 15"/>
          <p:cNvSpPr txBox="1"/>
          <p:nvPr/>
        </p:nvSpPr>
        <p:spPr>
          <a:xfrm>
            <a:off x="457200" y="4114800"/>
            <a:ext cx="8229600" cy="640080"/>
          </a:xfrm>
          <a:prstGeom prst="rect">
            <a:avLst/>
          </a:prstGeom>
          <a:noFill/>
          <a:ln/>
        </p:spPr>
        <p:txBody>
          <a:bodyPr wrap="square" lIns="0" tIns="0" rIns="0" bIns="0" rtlCol="0" anchor="ctr"/>
          <a:lstStyle/>
          <a:p>
            <a:pPr indent="0" marL="0">
              <a:buNone/>
            </a:pPr>
            <a:r>
              <a:rPr lang="en-US" sz="1400" dirty="0">
                <a:solidFill>
                  <a:srgbClr val="14211C"/>
                </a:solidFill>
                <a:latin typeface="Calibri" pitchFamily="34" charset="0"/>
                <a:ea typeface="Calibri" pitchFamily="34" charset="-122"/>
                <a:cs typeface="Calibri" pitchFamily="34" charset="-120"/>
              </a:rPr>
              <a:t>Closes the loop for the developer: resident behaviour becomes facility decisions. Builds on MOH guidance (MyNutriDiari 2, Malaysian Healthy Plate) with a conversational layer.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7"/>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libri" pitchFamily="34" charset="0"/>
                <a:ea typeface="Calibri" pitchFamily="34" charset="-122"/>
                <a:cs typeface="Calibri" pitchFamily="34" charset="-120"/>
              </a:rPr>
              <a:t>5. How it Works</a:t>
            </a:r>
            <a:endParaRPr lang="en-US" sz="2800" dirty="0"/>
          </a:p>
        </p:txBody>
      </p:sp>
      <p:sp>
        <p:nvSpPr>
          <p:cNvPr id="4" name="Text 1"/>
          <p:cNvSpPr txBox="1"/>
          <p:nvPr/>
        </p:nvSpPr>
        <p:spPr>
          <a:xfrm>
            <a:off x="457200" y="4828032"/>
            <a:ext cx="2743200" cy="201168"/>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5" name="Shape 2"/>
          <p:cNvSpPr/>
          <p:nvPr/>
        </p:nvSpPr>
        <p:spPr>
          <a:xfrm>
            <a:off x="457200" y="1097280"/>
            <a:ext cx="1874520" cy="2103120"/>
          </a:xfrm>
          <a:prstGeom prst="roundRect">
            <a:avLst>
              <a:gd name="adj" fmla="val 4878"/>
            </a:avLst>
          </a:prstGeom>
          <a:solidFill>
            <a:srgbClr val="FFFFFF"/>
          </a:solidFill>
          <a:ln w="12700">
            <a:solidFill>
              <a:srgbClr val="DBE3DF"/>
            </a:solidFill>
            <a:prstDash val="solid"/>
          </a:ln>
        </p:spPr>
      </p:sp>
      <p:sp>
        <p:nvSpPr>
          <p:cNvPr id="6" name="Shape 3"/>
          <p:cNvSpPr/>
          <p:nvPr/>
        </p:nvSpPr>
        <p:spPr>
          <a:xfrm>
            <a:off x="594360" y="1234440"/>
            <a:ext cx="73152" cy="320040"/>
          </a:xfrm>
          <a:prstGeom prst="rect">
            <a:avLst/>
          </a:prstGeom>
          <a:solidFill>
            <a:srgbClr val="0F8A5F"/>
          </a:solidFill>
          <a:ln w="12700">
            <a:solidFill>
              <a:srgbClr val="0F8A5F"/>
            </a:solidFill>
            <a:prstDash val="solid"/>
          </a:ln>
        </p:spPr>
      </p:sp>
      <p:sp>
        <p:nvSpPr>
          <p:cNvPr id="7" name="Text 4"/>
          <p:cNvSpPr txBox="1"/>
          <p:nvPr/>
        </p:nvSpPr>
        <p:spPr>
          <a:xfrm>
            <a:off x="731520" y="1188720"/>
            <a:ext cx="1463040" cy="41148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Resident</a:t>
            </a:r>
            <a:endParaRPr lang="en-US" sz="1400" dirty="0"/>
          </a:p>
        </p:txBody>
      </p:sp>
      <p:sp>
        <p:nvSpPr>
          <p:cNvPr id="8" name="Text 5"/>
          <p:cNvSpPr txBox="1"/>
          <p:nvPr/>
        </p:nvSpPr>
        <p:spPr>
          <a:xfrm>
            <a:off x="640080" y="1691640"/>
            <a:ext cx="1508760" cy="141732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Telegram (WhatsApp or township app later)</a:t>
            </a:r>
            <a:endParaRPr lang="en-US" sz="1250" dirty="0"/>
          </a:p>
        </p:txBody>
      </p:sp>
      <p:sp>
        <p:nvSpPr>
          <p:cNvPr id="9" name="Text 6"/>
          <p:cNvSpPr txBox="1"/>
          <p:nvPr/>
        </p:nvSpPr>
        <p:spPr>
          <a:xfrm>
            <a:off x="2304288" y="1828800"/>
            <a:ext cx="274320" cy="365760"/>
          </a:xfrm>
          <a:prstGeom prst="rect">
            <a:avLst/>
          </a:prstGeom>
          <a:noFill/>
          <a:ln/>
        </p:spPr>
        <p:txBody>
          <a:bodyPr wrap="square" lIns="0" tIns="0" rIns="0" bIns="0" rtlCol="0" anchor="ctr"/>
          <a:lstStyle/>
          <a:p>
            <a:pPr indent="0" marL="0">
              <a:buNone/>
            </a:pPr>
            <a:r>
              <a:rPr lang="en-US" sz="2000" b="1" dirty="0">
                <a:solidFill>
                  <a:srgbClr val="0F8A5F"/>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2542032" y="1097280"/>
            <a:ext cx="1874520" cy="2103120"/>
          </a:xfrm>
          <a:prstGeom prst="roundRect">
            <a:avLst>
              <a:gd name="adj" fmla="val 4878"/>
            </a:avLst>
          </a:prstGeom>
          <a:solidFill>
            <a:srgbClr val="FFFFFF"/>
          </a:solidFill>
          <a:ln w="12700">
            <a:solidFill>
              <a:srgbClr val="DBE3DF"/>
            </a:solidFill>
            <a:prstDash val="solid"/>
          </a:ln>
        </p:spPr>
      </p:sp>
      <p:sp>
        <p:nvSpPr>
          <p:cNvPr id="11" name="Shape 8"/>
          <p:cNvSpPr/>
          <p:nvPr/>
        </p:nvSpPr>
        <p:spPr>
          <a:xfrm>
            <a:off x="2679192" y="1234440"/>
            <a:ext cx="73152" cy="320040"/>
          </a:xfrm>
          <a:prstGeom prst="rect">
            <a:avLst/>
          </a:prstGeom>
          <a:solidFill>
            <a:srgbClr val="0F8A5F"/>
          </a:solidFill>
          <a:ln w="12700">
            <a:solidFill>
              <a:srgbClr val="0F8A5F"/>
            </a:solidFill>
            <a:prstDash val="solid"/>
          </a:ln>
        </p:spPr>
      </p:sp>
      <p:sp>
        <p:nvSpPr>
          <p:cNvPr id="12" name="Text 9"/>
          <p:cNvSpPr txBox="1"/>
          <p:nvPr/>
        </p:nvSpPr>
        <p:spPr>
          <a:xfrm>
            <a:off x="2816352" y="1188720"/>
            <a:ext cx="1463040" cy="41148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AI agent</a:t>
            </a:r>
            <a:endParaRPr lang="en-US" sz="1400" dirty="0"/>
          </a:p>
        </p:txBody>
      </p:sp>
      <p:sp>
        <p:nvSpPr>
          <p:cNvPr id="13" name="Text 10"/>
          <p:cNvSpPr txBox="1"/>
          <p:nvPr/>
        </p:nvSpPr>
        <p:spPr>
          <a:xfrm>
            <a:off x="2724912" y="1691640"/>
            <a:ext cx="1508760" cy="141732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Tools: check_in, escalate, find_buddy, report_issue, get_air_quality</a:t>
            </a:r>
            <a:endParaRPr lang="en-US" sz="1250" dirty="0"/>
          </a:p>
        </p:txBody>
      </p:sp>
      <p:sp>
        <p:nvSpPr>
          <p:cNvPr id="14" name="Text 11"/>
          <p:cNvSpPr txBox="1"/>
          <p:nvPr/>
        </p:nvSpPr>
        <p:spPr>
          <a:xfrm>
            <a:off x="4389120" y="1828800"/>
            <a:ext cx="274320" cy="365760"/>
          </a:xfrm>
          <a:prstGeom prst="rect">
            <a:avLst/>
          </a:prstGeom>
          <a:noFill/>
          <a:ln/>
        </p:spPr>
        <p:txBody>
          <a:bodyPr wrap="square" lIns="0" tIns="0" rIns="0" bIns="0" rtlCol="0" anchor="ctr"/>
          <a:lstStyle/>
          <a:p>
            <a:pPr indent="0" marL="0">
              <a:buNone/>
            </a:pPr>
            <a:r>
              <a:rPr lang="en-US" sz="2000" b="1" dirty="0">
                <a:solidFill>
                  <a:srgbClr val="0F8A5F"/>
                </a:solidFill>
                <a:latin typeface="Calibri" pitchFamily="34" charset="0"/>
                <a:ea typeface="Calibri" pitchFamily="34" charset="-122"/>
                <a:cs typeface="Calibri" pitchFamily="34" charset="-120"/>
              </a:rPr>
              <a:t>→</a:t>
            </a:r>
            <a:endParaRPr lang="en-US" sz="2000" dirty="0"/>
          </a:p>
        </p:txBody>
      </p:sp>
      <p:sp>
        <p:nvSpPr>
          <p:cNvPr id="15" name="Shape 12"/>
          <p:cNvSpPr/>
          <p:nvPr/>
        </p:nvSpPr>
        <p:spPr>
          <a:xfrm>
            <a:off x="4626864" y="1097280"/>
            <a:ext cx="1874520" cy="2103120"/>
          </a:xfrm>
          <a:prstGeom prst="roundRect">
            <a:avLst>
              <a:gd name="adj" fmla="val 4878"/>
            </a:avLst>
          </a:prstGeom>
          <a:solidFill>
            <a:srgbClr val="FFFFFF"/>
          </a:solidFill>
          <a:ln w="12700">
            <a:solidFill>
              <a:srgbClr val="DBE3DF"/>
            </a:solidFill>
            <a:prstDash val="solid"/>
          </a:ln>
        </p:spPr>
      </p:sp>
      <p:sp>
        <p:nvSpPr>
          <p:cNvPr id="16" name="Shape 13"/>
          <p:cNvSpPr/>
          <p:nvPr/>
        </p:nvSpPr>
        <p:spPr>
          <a:xfrm>
            <a:off x="4764024" y="1234440"/>
            <a:ext cx="73152" cy="320040"/>
          </a:xfrm>
          <a:prstGeom prst="rect">
            <a:avLst/>
          </a:prstGeom>
          <a:solidFill>
            <a:srgbClr val="0F8A5F"/>
          </a:solidFill>
          <a:ln w="12700">
            <a:solidFill>
              <a:srgbClr val="0F8A5F"/>
            </a:solidFill>
            <a:prstDash val="solid"/>
          </a:ln>
        </p:spPr>
      </p:sp>
      <p:sp>
        <p:nvSpPr>
          <p:cNvPr id="17" name="Text 14"/>
          <p:cNvSpPr txBox="1"/>
          <p:nvPr/>
        </p:nvSpPr>
        <p:spPr>
          <a:xfrm>
            <a:off x="4901184" y="1188720"/>
            <a:ext cx="1463040" cy="41148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Scheduler and data</a:t>
            </a:r>
            <a:endParaRPr lang="en-US" sz="1400" dirty="0"/>
          </a:p>
        </p:txBody>
      </p:sp>
      <p:sp>
        <p:nvSpPr>
          <p:cNvPr id="18" name="Text 15"/>
          <p:cNvSpPr txBox="1"/>
          <p:nvPr/>
        </p:nvSpPr>
        <p:spPr>
          <a:xfrm>
            <a:off x="4809744" y="1691640"/>
            <a:ext cx="1508760" cy="141732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Escalation timers, consent, circles, events</a:t>
            </a:r>
            <a:endParaRPr lang="en-US" sz="1250" dirty="0"/>
          </a:p>
        </p:txBody>
      </p:sp>
      <p:sp>
        <p:nvSpPr>
          <p:cNvPr id="19" name="Text 16"/>
          <p:cNvSpPr txBox="1"/>
          <p:nvPr/>
        </p:nvSpPr>
        <p:spPr>
          <a:xfrm>
            <a:off x="6473952" y="1828800"/>
            <a:ext cx="274320" cy="365760"/>
          </a:xfrm>
          <a:prstGeom prst="rect">
            <a:avLst/>
          </a:prstGeom>
          <a:noFill/>
          <a:ln/>
        </p:spPr>
        <p:txBody>
          <a:bodyPr wrap="square" lIns="0" tIns="0" rIns="0" bIns="0" rtlCol="0" anchor="ctr"/>
          <a:lstStyle/>
          <a:p>
            <a:pPr indent="0" marL="0">
              <a:buNone/>
            </a:pPr>
            <a:r>
              <a:rPr lang="en-US" sz="2000" b="1" dirty="0">
                <a:solidFill>
                  <a:srgbClr val="0F8A5F"/>
                </a:solidFill>
                <a:latin typeface="Calibri" pitchFamily="34" charset="0"/>
                <a:ea typeface="Calibri" pitchFamily="34" charset="-122"/>
                <a:cs typeface="Calibri" pitchFamily="34" charset="-120"/>
              </a:rPr>
              <a:t>→</a:t>
            </a:r>
            <a:endParaRPr lang="en-US" sz="2000" dirty="0"/>
          </a:p>
        </p:txBody>
      </p:sp>
      <p:sp>
        <p:nvSpPr>
          <p:cNvPr id="20" name="Shape 17"/>
          <p:cNvSpPr/>
          <p:nvPr/>
        </p:nvSpPr>
        <p:spPr>
          <a:xfrm>
            <a:off x="6711696" y="1097280"/>
            <a:ext cx="1874520" cy="2103120"/>
          </a:xfrm>
          <a:prstGeom prst="roundRect">
            <a:avLst>
              <a:gd name="adj" fmla="val 4878"/>
            </a:avLst>
          </a:prstGeom>
          <a:solidFill>
            <a:srgbClr val="FFFFFF"/>
          </a:solidFill>
          <a:ln w="12700">
            <a:solidFill>
              <a:srgbClr val="DBE3DF"/>
            </a:solidFill>
            <a:prstDash val="solid"/>
          </a:ln>
        </p:spPr>
      </p:sp>
      <p:sp>
        <p:nvSpPr>
          <p:cNvPr id="21" name="Shape 18"/>
          <p:cNvSpPr/>
          <p:nvPr/>
        </p:nvSpPr>
        <p:spPr>
          <a:xfrm>
            <a:off x="6848856" y="1234440"/>
            <a:ext cx="73152" cy="320040"/>
          </a:xfrm>
          <a:prstGeom prst="rect">
            <a:avLst/>
          </a:prstGeom>
          <a:solidFill>
            <a:srgbClr val="0F8A5F"/>
          </a:solidFill>
          <a:ln w="12700">
            <a:solidFill>
              <a:srgbClr val="0F8A5F"/>
            </a:solidFill>
            <a:prstDash val="solid"/>
          </a:ln>
        </p:spPr>
      </p:sp>
      <p:sp>
        <p:nvSpPr>
          <p:cNvPr id="22" name="Text 19"/>
          <p:cNvSpPr txBox="1"/>
          <p:nvPr/>
        </p:nvSpPr>
        <p:spPr>
          <a:xfrm>
            <a:off x="6986016" y="1188720"/>
            <a:ext cx="1463040" cy="41148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Insights dashboard</a:t>
            </a:r>
            <a:endParaRPr lang="en-US" sz="1400" dirty="0"/>
          </a:p>
        </p:txBody>
      </p:sp>
      <p:sp>
        <p:nvSpPr>
          <p:cNvPr id="23" name="Text 20"/>
          <p:cNvSpPr txBox="1"/>
          <p:nvPr/>
        </p:nvSpPr>
        <p:spPr>
          <a:xfrm>
            <a:off x="6894576" y="1691640"/>
            <a:ext cx="1508760" cy="141732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Anonymised heatmap and recommended actions</a:t>
            </a:r>
            <a:endParaRPr lang="en-US" sz="1250" dirty="0"/>
          </a:p>
        </p:txBody>
      </p:sp>
      <p:sp>
        <p:nvSpPr>
          <p:cNvPr id="24" name="Text 21"/>
          <p:cNvSpPr txBox="1"/>
          <p:nvPr/>
        </p:nvSpPr>
        <p:spPr>
          <a:xfrm>
            <a:off x="457200" y="3474720"/>
            <a:ext cx="8229600" cy="36576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Check-in ladder: 08:00 check-in → 08:05 reminder → 08:20 neighbour → 08:35 guardhouse → 08:40 family</a:t>
            </a:r>
            <a:endParaRPr lang="en-US" sz="1400" dirty="0"/>
          </a:p>
        </p:txBody>
      </p:sp>
      <p:sp>
        <p:nvSpPr>
          <p:cNvPr id="25" name="Text 22"/>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300" dirty="0">
                <a:solidFill>
                  <a:srgbClr val="5B6B64"/>
                </a:solidFill>
                <a:latin typeface="Calibri" pitchFamily="34" charset="0"/>
                <a:ea typeface="Calibri" pitchFamily="34" charset="-122"/>
                <a:cs typeface="Calibri" pitchFamily="34" charset="-120"/>
              </a:rPr>
              <a:t>Every contact is chosen by the resident and has consented. Each township is a configuration pack (map, facilities, volunteers).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7"/>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libri" pitchFamily="34" charset="0"/>
                <a:ea typeface="Calibri" pitchFamily="34" charset="-122"/>
                <a:cs typeface="Calibri" pitchFamily="34" charset="-120"/>
              </a:rPr>
              <a:t>6. Impact</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B6B64"/>
                </a:solidFill>
                <a:latin typeface="Calibri" pitchFamily="34" charset="0"/>
                <a:ea typeface="Calibri" pitchFamily="34" charset="-122"/>
                <a:cs typeface="Calibri" pitchFamily="34" charset="-120"/>
              </a:rPr>
              <a:t>Who benefits and what outcomes we aim for</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280160"/>
            <a:ext cx="1920240" cy="2286000"/>
          </a:xfrm>
          <a:prstGeom prst="roundRect">
            <a:avLst>
              <a:gd name="adj" fmla="val 4762"/>
            </a:avLst>
          </a:prstGeom>
          <a:solidFill>
            <a:srgbClr val="FFFFFF"/>
          </a:solidFill>
          <a:ln w="12700">
            <a:solidFill>
              <a:srgbClr val="DBE3DF"/>
            </a:solidFill>
            <a:prstDash val="solid"/>
          </a:ln>
        </p:spPr>
      </p:sp>
      <p:sp>
        <p:nvSpPr>
          <p:cNvPr id="7" name="Shape 4"/>
          <p:cNvSpPr/>
          <p:nvPr/>
        </p:nvSpPr>
        <p:spPr>
          <a:xfrm>
            <a:off x="594360" y="1417320"/>
            <a:ext cx="73152" cy="320040"/>
          </a:xfrm>
          <a:prstGeom prst="rect">
            <a:avLst/>
          </a:prstGeom>
          <a:solidFill>
            <a:srgbClr val="0F8A5F"/>
          </a:solidFill>
          <a:ln w="12700">
            <a:solidFill>
              <a:srgbClr val="0F8A5F"/>
            </a:solidFill>
            <a:prstDash val="solid"/>
          </a:ln>
        </p:spPr>
      </p:sp>
      <p:sp>
        <p:nvSpPr>
          <p:cNvPr id="8" name="Text 5"/>
          <p:cNvSpPr txBox="1"/>
          <p:nvPr/>
        </p:nvSpPr>
        <p:spPr>
          <a:xfrm>
            <a:off x="731520" y="1371600"/>
            <a:ext cx="1508760" cy="41148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Residents</a:t>
            </a:r>
            <a:endParaRPr lang="en-US" sz="1400" dirty="0"/>
          </a:p>
        </p:txBody>
      </p:sp>
      <p:sp>
        <p:nvSpPr>
          <p:cNvPr id="9" name="Text 6"/>
          <p:cNvSpPr txBox="1"/>
          <p:nvPr/>
        </p:nvSpPr>
        <p:spPr>
          <a:xfrm>
            <a:off x="640080" y="1874520"/>
            <a:ext cx="1554480" cy="160020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Earlier help, healthier routines, less loneliness.</a:t>
            </a:r>
            <a:endParaRPr lang="en-US" sz="1250" dirty="0"/>
          </a:p>
        </p:txBody>
      </p:sp>
      <p:sp>
        <p:nvSpPr>
          <p:cNvPr id="10" name="Shape 7"/>
          <p:cNvSpPr/>
          <p:nvPr/>
        </p:nvSpPr>
        <p:spPr>
          <a:xfrm>
            <a:off x="2491740" y="1280160"/>
            <a:ext cx="1920240" cy="2286000"/>
          </a:xfrm>
          <a:prstGeom prst="roundRect">
            <a:avLst>
              <a:gd name="adj" fmla="val 4762"/>
            </a:avLst>
          </a:prstGeom>
          <a:solidFill>
            <a:srgbClr val="FFFFFF"/>
          </a:solidFill>
          <a:ln w="12700">
            <a:solidFill>
              <a:srgbClr val="DBE3DF"/>
            </a:solidFill>
            <a:prstDash val="solid"/>
          </a:ln>
        </p:spPr>
      </p:sp>
      <p:sp>
        <p:nvSpPr>
          <p:cNvPr id="11" name="Shape 8"/>
          <p:cNvSpPr/>
          <p:nvPr/>
        </p:nvSpPr>
        <p:spPr>
          <a:xfrm>
            <a:off x="2628900" y="1417320"/>
            <a:ext cx="73152" cy="320040"/>
          </a:xfrm>
          <a:prstGeom prst="rect">
            <a:avLst/>
          </a:prstGeom>
          <a:solidFill>
            <a:srgbClr val="0F8A5F"/>
          </a:solidFill>
          <a:ln w="12700">
            <a:solidFill>
              <a:srgbClr val="0F8A5F"/>
            </a:solidFill>
            <a:prstDash val="solid"/>
          </a:ln>
        </p:spPr>
      </p:sp>
      <p:sp>
        <p:nvSpPr>
          <p:cNvPr id="12" name="Text 9"/>
          <p:cNvSpPr txBox="1"/>
          <p:nvPr/>
        </p:nvSpPr>
        <p:spPr>
          <a:xfrm>
            <a:off x="2766060" y="1371600"/>
            <a:ext cx="1508760" cy="41148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Families</a:t>
            </a:r>
            <a:endParaRPr lang="en-US" sz="1400" dirty="0"/>
          </a:p>
        </p:txBody>
      </p:sp>
      <p:sp>
        <p:nvSpPr>
          <p:cNvPr id="13" name="Text 10"/>
          <p:cNvSpPr txBox="1"/>
          <p:nvPr/>
        </p:nvSpPr>
        <p:spPr>
          <a:xfrm>
            <a:off x="2674620" y="1874520"/>
            <a:ext cx="1554480" cy="160020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Peace of mind with contextual alerts.</a:t>
            </a:r>
            <a:endParaRPr lang="en-US" sz="1250" dirty="0"/>
          </a:p>
        </p:txBody>
      </p:sp>
      <p:sp>
        <p:nvSpPr>
          <p:cNvPr id="14" name="Shape 11"/>
          <p:cNvSpPr/>
          <p:nvPr/>
        </p:nvSpPr>
        <p:spPr>
          <a:xfrm>
            <a:off x="4526280" y="1280160"/>
            <a:ext cx="1920240" cy="2286000"/>
          </a:xfrm>
          <a:prstGeom prst="roundRect">
            <a:avLst>
              <a:gd name="adj" fmla="val 4762"/>
            </a:avLst>
          </a:prstGeom>
          <a:solidFill>
            <a:srgbClr val="FFFFFF"/>
          </a:solidFill>
          <a:ln w="12700">
            <a:solidFill>
              <a:srgbClr val="DBE3DF"/>
            </a:solidFill>
            <a:prstDash val="solid"/>
          </a:ln>
        </p:spPr>
      </p:sp>
      <p:sp>
        <p:nvSpPr>
          <p:cNvPr id="15" name="Shape 12"/>
          <p:cNvSpPr/>
          <p:nvPr/>
        </p:nvSpPr>
        <p:spPr>
          <a:xfrm>
            <a:off x="4663440" y="1417320"/>
            <a:ext cx="73152" cy="320040"/>
          </a:xfrm>
          <a:prstGeom prst="rect">
            <a:avLst/>
          </a:prstGeom>
          <a:solidFill>
            <a:srgbClr val="0F8A5F"/>
          </a:solidFill>
          <a:ln w="12700">
            <a:solidFill>
              <a:srgbClr val="0F8A5F"/>
            </a:solidFill>
            <a:prstDash val="solid"/>
          </a:ln>
        </p:spPr>
      </p:sp>
      <p:sp>
        <p:nvSpPr>
          <p:cNvPr id="16" name="Text 13"/>
          <p:cNvSpPr txBox="1"/>
          <p:nvPr/>
        </p:nvSpPr>
        <p:spPr>
          <a:xfrm>
            <a:off x="4800600" y="1371600"/>
            <a:ext cx="1508760" cy="41148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Management</a:t>
            </a:r>
            <a:endParaRPr lang="en-US" sz="1400" dirty="0"/>
          </a:p>
        </p:txBody>
      </p:sp>
      <p:sp>
        <p:nvSpPr>
          <p:cNvPr id="17" name="Text 14"/>
          <p:cNvSpPr txBox="1"/>
          <p:nvPr/>
        </p:nvSpPr>
        <p:spPr>
          <a:xfrm>
            <a:off x="4709160" y="1874520"/>
            <a:ext cx="1554480" cy="160020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Faster, better-informed response with existing staff.</a:t>
            </a:r>
            <a:endParaRPr lang="en-US" sz="1250" dirty="0"/>
          </a:p>
        </p:txBody>
      </p:sp>
      <p:sp>
        <p:nvSpPr>
          <p:cNvPr id="18" name="Shape 15"/>
          <p:cNvSpPr/>
          <p:nvPr/>
        </p:nvSpPr>
        <p:spPr>
          <a:xfrm>
            <a:off x="6560820" y="1280160"/>
            <a:ext cx="2103120" cy="2286000"/>
          </a:xfrm>
          <a:prstGeom prst="roundRect">
            <a:avLst>
              <a:gd name="adj" fmla="val 4348"/>
            </a:avLst>
          </a:prstGeom>
          <a:solidFill>
            <a:srgbClr val="FFFFFF"/>
          </a:solidFill>
          <a:ln w="12700">
            <a:solidFill>
              <a:srgbClr val="DBE3DF"/>
            </a:solidFill>
            <a:prstDash val="solid"/>
          </a:ln>
        </p:spPr>
      </p:sp>
      <p:sp>
        <p:nvSpPr>
          <p:cNvPr id="19" name="Shape 16"/>
          <p:cNvSpPr/>
          <p:nvPr/>
        </p:nvSpPr>
        <p:spPr>
          <a:xfrm>
            <a:off x="6697980" y="1417320"/>
            <a:ext cx="73152" cy="320040"/>
          </a:xfrm>
          <a:prstGeom prst="rect">
            <a:avLst/>
          </a:prstGeom>
          <a:solidFill>
            <a:srgbClr val="0F8A5F"/>
          </a:solidFill>
          <a:ln w="12700">
            <a:solidFill>
              <a:srgbClr val="0F8A5F"/>
            </a:solidFill>
            <a:prstDash val="solid"/>
          </a:ln>
        </p:spPr>
      </p:sp>
      <p:sp>
        <p:nvSpPr>
          <p:cNvPr id="20" name="Text 17"/>
          <p:cNvSpPr txBox="1"/>
          <p:nvPr/>
        </p:nvSpPr>
        <p:spPr>
          <a:xfrm>
            <a:off x="6835140" y="1371600"/>
            <a:ext cx="1691640" cy="41148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Sime Darby Property</a:t>
            </a:r>
            <a:endParaRPr lang="en-US" sz="1400" dirty="0"/>
          </a:p>
        </p:txBody>
      </p:sp>
      <p:sp>
        <p:nvSpPr>
          <p:cNvPr id="21" name="Text 18"/>
          <p:cNvSpPr txBox="1"/>
          <p:nvPr/>
        </p:nvSpPr>
        <p:spPr>
          <a:xfrm>
            <a:off x="6743700" y="1874520"/>
            <a:ext cx="1737360" cy="160020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Higher liveability and retention; facilities placed using data.</a:t>
            </a:r>
            <a:endParaRPr lang="en-US" sz="1250" dirty="0"/>
          </a:p>
        </p:txBody>
      </p:sp>
      <p:sp>
        <p:nvSpPr>
          <p:cNvPr id="22" name="Text 19"/>
          <p:cNvSpPr txBox="1"/>
          <p:nvPr/>
        </p:nvSpPr>
        <p:spPr>
          <a:xfrm>
            <a:off x="457200" y="3886200"/>
            <a:ext cx="8229600" cy="548640"/>
          </a:xfrm>
          <a:prstGeom prst="rect">
            <a:avLst/>
          </a:prstGeom>
          <a:noFill/>
          <a:ln/>
        </p:spPr>
        <p:txBody>
          <a:bodyPr wrap="square" lIns="0" tIns="0" rIns="0" bIns="0" rtlCol="0" anchor="ctr"/>
          <a:lstStyle/>
          <a:p>
            <a:pPr indent="0" marL="0">
              <a:buNone/>
            </a:pPr>
            <a:r>
              <a:rPr lang="en-US" sz="1400" b="1" dirty="0">
                <a:solidFill>
                  <a:srgbClr val="0B3D2E"/>
                </a:solidFill>
                <a:latin typeface="Calibri" pitchFamily="34" charset="0"/>
                <a:ea typeface="Calibri" pitchFamily="34" charset="-122"/>
                <a:cs typeface="Calibri" pitchFamily="34" charset="-120"/>
              </a:rPr>
              <a:t>Proposed measures: check-in response time, weekly active participants, loneliness (UCLA 3-item), facility actions taken.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7"/>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libri" pitchFamily="34" charset="0"/>
                <a:ea typeface="Calibri" pitchFamily="34" charset="-122"/>
                <a:cs typeface="Calibri" pitchFamily="34" charset="-120"/>
              </a:rPr>
              <a:t>7. Feasibility</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B6B64"/>
                </a:solidFill>
                <a:latin typeface="Calibri" pitchFamily="34" charset="0"/>
                <a:ea typeface="Calibri" pitchFamily="34" charset="-122"/>
                <a:cs typeface="Calibri" pitchFamily="34" charset="-120"/>
              </a:rPr>
              <a:t>Can it realistically be implemented?</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280160"/>
            <a:ext cx="2606040" cy="2651760"/>
          </a:xfrm>
          <a:prstGeom prst="roundRect">
            <a:avLst>
              <a:gd name="adj" fmla="val 3509"/>
            </a:avLst>
          </a:prstGeom>
          <a:solidFill>
            <a:srgbClr val="FFFFFF"/>
          </a:solidFill>
          <a:ln w="12700">
            <a:solidFill>
              <a:srgbClr val="DBE3DF"/>
            </a:solidFill>
            <a:prstDash val="solid"/>
          </a:ln>
        </p:spPr>
      </p:sp>
      <p:sp>
        <p:nvSpPr>
          <p:cNvPr id="7" name="Shape 4"/>
          <p:cNvSpPr/>
          <p:nvPr/>
        </p:nvSpPr>
        <p:spPr>
          <a:xfrm>
            <a:off x="594360" y="1417320"/>
            <a:ext cx="73152" cy="320040"/>
          </a:xfrm>
          <a:prstGeom prst="rect">
            <a:avLst/>
          </a:prstGeom>
          <a:solidFill>
            <a:srgbClr val="0F8A5F"/>
          </a:solidFill>
          <a:ln w="12700">
            <a:solidFill>
              <a:srgbClr val="0F8A5F"/>
            </a:solidFill>
            <a:prstDash val="solid"/>
          </a:ln>
        </p:spPr>
      </p:sp>
      <p:sp>
        <p:nvSpPr>
          <p:cNvPr id="8" name="Text 5"/>
          <p:cNvSpPr txBox="1"/>
          <p:nvPr/>
        </p:nvSpPr>
        <p:spPr>
          <a:xfrm>
            <a:off x="731520" y="1371600"/>
            <a:ext cx="2194560" cy="411480"/>
          </a:xfrm>
          <a:prstGeom prst="rect">
            <a:avLst/>
          </a:prstGeom>
          <a:noFill/>
          <a:ln/>
        </p:spPr>
        <p:txBody>
          <a:bodyPr wrap="square" lIns="0" tIns="0" rIns="0" bIns="0" rtlCol="0" anchor="ctr"/>
          <a:lstStyle/>
          <a:p>
            <a:pPr indent="0" marL="0">
              <a:buNone/>
            </a:pPr>
            <a:r>
              <a:rPr lang="en-US" sz="1500" b="1" dirty="0">
                <a:solidFill>
                  <a:srgbClr val="0B3D2E"/>
                </a:solidFill>
                <a:latin typeface="Calibri" pitchFamily="34" charset="0"/>
                <a:ea typeface="Calibri" pitchFamily="34" charset="-122"/>
                <a:cs typeface="Calibri" pitchFamily="34" charset="-120"/>
              </a:rPr>
              <a:t>Low cost</a:t>
            </a:r>
            <a:endParaRPr lang="en-US" sz="1500" dirty="0"/>
          </a:p>
        </p:txBody>
      </p:sp>
      <p:sp>
        <p:nvSpPr>
          <p:cNvPr id="9" name="Text 6"/>
          <p:cNvSpPr txBox="1"/>
          <p:nvPr/>
        </p:nvSpPr>
        <p:spPr>
          <a:xfrm>
            <a:off x="640080" y="1874520"/>
            <a:ext cx="2240280" cy="196596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Prototype built on free tools. Uses existing guardhouse and management staff.</a:t>
            </a:r>
            <a:endParaRPr lang="en-US" sz="1250" dirty="0"/>
          </a:p>
        </p:txBody>
      </p:sp>
      <p:sp>
        <p:nvSpPr>
          <p:cNvPr id="10" name="Shape 7"/>
          <p:cNvSpPr/>
          <p:nvPr/>
        </p:nvSpPr>
        <p:spPr>
          <a:xfrm>
            <a:off x="3268980" y="1280160"/>
            <a:ext cx="2606040" cy="2651760"/>
          </a:xfrm>
          <a:prstGeom prst="roundRect">
            <a:avLst>
              <a:gd name="adj" fmla="val 3509"/>
            </a:avLst>
          </a:prstGeom>
          <a:solidFill>
            <a:srgbClr val="FFFFFF"/>
          </a:solidFill>
          <a:ln w="12700">
            <a:solidFill>
              <a:srgbClr val="DBE3DF"/>
            </a:solidFill>
            <a:prstDash val="solid"/>
          </a:ln>
        </p:spPr>
      </p:sp>
      <p:sp>
        <p:nvSpPr>
          <p:cNvPr id="11" name="Shape 8"/>
          <p:cNvSpPr/>
          <p:nvPr/>
        </p:nvSpPr>
        <p:spPr>
          <a:xfrm>
            <a:off x="3406140" y="1417320"/>
            <a:ext cx="73152" cy="320040"/>
          </a:xfrm>
          <a:prstGeom prst="rect">
            <a:avLst/>
          </a:prstGeom>
          <a:solidFill>
            <a:srgbClr val="0F8A5F"/>
          </a:solidFill>
          <a:ln w="12700">
            <a:solidFill>
              <a:srgbClr val="0F8A5F"/>
            </a:solidFill>
            <a:prstDash val="solid"/>
          </a:ln>
        </p:spPr>
      </p:sp>
      <p:sp>
        <p:nvSpPr>
          <p:cNvPr id="12" name="Text 9"/>
          <p:cNvSpPr txBox="1"/>
          <p:nvPr/>
        </p:nvSpPr>
        <p:spPr>
          <a:xfrm>
            <a:off x="3543300" y="1371600"/>
            <a:ext cx="2194560" cy="411480"/>
          </a:xfrm>
          <a:prstGeom prst="rect">
            <a:avLst/>
          </a:prstGeom>
          <a:noFill/>
          <a:ln/>
        </p:spPr>
        <p:txBody>
          <a:bodyPr wrap="square" lIns="0" tIns="0" rIns="0" bIns="0" rtlCol="0" anchor="ctr"/>
          <a:lstStyle/>
          <a:p>
            <a:pPr indent="0" marL="0">
              <a:buNone/>
            </a:pPr>
            <a:r>
              <a:rPr lang="en-US" sz="1500" b="1" dirty="0">
                <a:solidFill>
                  <a:srgbClr val="0B3D2E"/>
                </a:solidFill>
                <a:latin typeface="Calibri" pitchFamily="34" charset="0"/>
                <a:ea typeface="Calibri" pitchFamily="34" charset="-122"/>
                <a:cs typeface="Calibri" pitchFamily="34" charset="-120"/>
              </a:rPr>
              <a:t>Safe and private</a:t>
            </a:r>
            <a:endParaRPr lang="en-US" sz="1500" dirty="0"/>
          </a:p>
        </p:txBody>
      </p:sp>
      <p:sp>
        <p:nvSpPr>
          <p:cNvPr id="13" name="Text 10"/>
          <p:cNvSpPr txBox="1"/>
          <p:nvPr/>
        </p:nvSpPr>
        <p:spPr>
          <a:xfrm>
            <a:off x="3451860" y="1874520"/>
            <a:ext cx="2240280" cy="196596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No diagnosis. Red flags go to 999. Opt-in, revocable consent. Designed for PDPA.</a:t>
            </a:r>
            <a:endParaRPr lang="en-US" sz="1250" dirty="0"/>
          </a:p>
        </p:txBody>
      </p:sp>
      <p:sp>
        <p:nvSpPr>
          <p:cNvPr id="14" name="Shape 11"/>
          <p:cNvSpPr/>
          <p:nvPr/>
        </p:nvSpPr>
        <p:spPr>
          <a:xfrm>
            <a:off x="6080760" y="1280160"/>
            <a:ext cx="2606040" cy="2651760"/>
          </a:xfrm>
          <a:prstGeom prst="roundRect">
            <a:avLst>
              <a:gd name="adj" fmla="val 3509"/>
            </a:avLst>
          </a:prstGeom>
          <a:solidFill>
            <a:srgbClr val="FFFFFF"/>
          </a:solidFill>
          <a:ln w="12700">
            <a:solidFill>
              <a:srgbClr val="DBE3DF"/>
            </a:solidFill>
            <a:prstDash val="solid"/>
          </a:ln>
        </p:spPr>
      </p:sp>
      <p:sp>
        <p:nvSpPr>
          <p:cNvPr id="15" name="Shape 12"/>
          <p:cNvSpPr/>
          <p:nvPr/>
        </p:nvSpPr>
        <p:spPr>
          <a:xfrm>
            <a:off x="6217920" y="1417320"/>
            <a:ext cx="73152" cy="320040"/>
          </a:xfrm>
          <a:prstGeom prst="rect">
            <a:avLst/>
          </a:prstGeom>
          <a:solidFill>
            <a:srgbClr val="0F8A5F"/>
          </a:solidFill>
          <a:ln w="12700">
            <a:solidFill>
              <a:srgbClr val="0F8A5F"/>
            </a:solidFill>
            <a:prstDash val="solid"/>
          </a:ln>
        </p:spPr>
      </p:sp>
      <p:sp>
        <p:nvSpPr>
          <p:cNvPr id="16" name="Text 13"/>
          <p:cNvSpPr txBox="1"/>
          <p:nvPr/>
        </p:nvSpPr>
        <p:spPr>
          <a:xfrm>
            <a:off x="6355080" y="1371600"/>
            <a:ext cx="2194560" cy="411480"/>
          </a:xfrm>
          <a:prstGeom prst="rect">
            <a:avLst/>
          </a:prstGeom>
          <a:noFill/>
          <a:ln/>
        </p:spPr>
        <p:txBody>
          <a:bodyPr wrap="square" lIns="0" tIns="0" rIns="0" bIns="0" rtlCol="0" anchor="ctr"/>
          <a:lstStyle/>
          <a:p>
            <a:pPr indent="0" marL="0">
              <a:buNone/>
            </a:pPr>
            <a:r>
              <a:rPr lang="en-US" sz="1500" b="1" dirty="0">
                <a:solidFill>
                  <a:srgbClr val="0B3D2E"/>
                </a:solidFill>
                <a:latin typeface="Calibri" pitchFamily="34" charset="0"/>
                <a:ea typeface="Calibri" pitchFamily="34" charset="-122"/>
                <a:cs typeface="Calibri" pitchFamily="34" charset="-120"/>
              </a:rPr>
              <a:t>Risks handled</a:t>
            </a:r>
            <a:endParaRPr lang="en-US" sz="1500" dirty="0"/>
          </a:p>
        </p:txBody>
      </p:sp>
      <p:sp>
        <p:nvSpPr>
          <p:cNvPr id="17" name="Text 14"/>
          <p:cNvSpPr txBox="1"/>
          <p:nvPr/>
        </p:nvSpPr>
        <p:spPr>
          <a:xfrm>
            <a:off x="6263640" y="1874520"/>
            <a:ext cx="2240280" cy="196596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Tunable timing for false alarms, family-assisted setup, rotating volunteers.</a:t>
            </a:r>
            <a:endParaRPr lang="en-US" sz="1250" dirty="0"/>
          </a:p>
        </p:txBody>
      </p:sp>
      <p:sp>
        <p:nvSpPr>
          <p:cNvPr id="18" name="Text 15"/>
          <p:cNvSpPr txBox="1"/>
          <p:nvPr/>
        </p:nvSpPr>
        <p:spPr>
          <a:xfrm>
            <a:off x="457200" y="4114800"/>
            <a:ext cx="8229600" cy="457200"/>
          </a:xfrm>
          <a:prstGeom prst="rect">
            <a:avLst/>
          </a:prstGeom>
          <a:noFill/>
          <a:ln/>
        </p:spPr>
        <p:txBody>
          <a:bodyPr wrap="square" lIns="0" tIns="0" rIns="0" bIns="0" rtlCol="0" anchor="ctr"/>
          <a:lstStyle/>
          <a:p>
            <a:pPr indent="0" marL="0">
              <a:buNone/>
            </a:pPr>
            <a:r>
              <a:rPr lang="en-US" sz="1400" dirty="0">
                <a:solidFill>
                  <a:srgbClr val="5B6B64"/>
                </a:solidFill>
                <a:latin typeface="Calibri" pitchFamily="34" charset="0"/>
                <a:ea typeface="Calibri" pitchFamily="34" charset="-122"/>
                <a:cs typeface="Calibri" pitchFamily="34" charset="-120"/>
              </a:rPr>
              <a:t>Stakeholders: Sime Darby Property township team, guardhouse, resident volunteers, partner clinics.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7"/>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libri" pitchFamily="34" charset="0"/>
                <a:ea typeface="Calibri" pitchFamily="34" charset="-122"/>
                <a:cs typeface="Calibri" pitchFamily="34" charset="-120"/>
              </a:rPr>
              <a:t>8. Implementation</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B6B64"/>
                </a:solidFill>
                <a:latin typeface="Calibri" pitchFamily="34" charset="0"/>
                <a:ea typeface="Calibri" pitchFamily="34" charset="-122"/>
                <a:cs typeface="Calibri" pitchFamily="34" charset="-120"/>
              </a:rPr>
              <a:t>Pilot: 500 households, 3 months, one township agreed with Sime Darby Property</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6" name="Shape 3"/>
          <p:cNvSpPr/>
          <p:nvPr/>
        </p:nvSpPr>
        <p:spPr>
          <a:xfrm>
            <a:off x="457200" y="1371600"/>
            <a:ext cx="2606040" cy="2377440"/>
          </a:xfrm>
          <a:prstGeom prst="roundRect">
            <a:avLst>
              <a:gd name="adj" fmla="val 3846"/>
            </a:avLst>
          </a:prstGeom>
          <a:solidFill>
            <a:srgbClr val="FFFFFF"/>
          </a:solidFill>
          <a:ln w="12700">
            <a:solidFill>
              <a:srgbClr val="DBE3DF"/>
            </a:solidFill>
            <a:prstDash val="solid"/>
          </a:ln>
        </p:spPr>
      </p:sp>
      <p:sp>
        <p:nvSpPr>
          <p:cNvPr id="7" name="Shape 4"/>
          <p:cNvSpPr/>
          <p:nvPr/>
        </p:nvSpPr>
        <p:spPr>
          <a:xfrm>
            <a:off x="594360" y="1508760"/>
            <a:ext cx="73152" cy="320040"/>
          </a:xfrm>
          <a:prstGeom prst="rect">
            <a:avLst/>
          </a:prstGeom>
          <a:solidFill>
            <a:srgbClr val="0F8A5F"/>
          </a:solidFill>
          <a:ln w="12700">
            <a:solidFill>
              <a:srgbClr val="0F8A5F"/>
            </a:solidFill>
            <a:prstDash val="solid"/>
          </a:ln>
        </p:spPr>
      </p:sp>
      <p:sp>
        <p:nvSpPr>
          <p:cNvPr id="8" name="Text 5"/>
          <p:cNvSpPr txBox="1"/>
          <p:nvPr/>
        </p:nvSpPr>
        <p:spPr>
          <a:xfrm>
            <a:off x="731520" y="1463040"/>
            <a:ext cx="2194560" cy="411480"/>
          </a:xfrm>
          <a:prstGeom prst="rect">
            <a:avLst/>
          </a:prstGeom>
          <a:noFill/>
          <a:ln/>
        </p:spPr>
        <p:txBody>
          <a:bodyPr wrap="square" lIns="0" tIns="0" rIns="0" bIns="0" rtlCol="0" anchor="ctr"/>
          <a:lstStyle/>
          <a:p>
            <a:pPr indent="0" marL="0">
              <a:buNone/>
            </a:pPr>
            <a:r>
              <a:rPr lang="en-US" sz="1500" b="1" dirty="0">
                <a:solidFill>
                  <a:srgbClr val="0B3D2E"/>
                </a:solidFill>
                <a:latin typeface="Calibri" pitchFamily="34" charset="0"/>
                <a:ea typeface="Calibri" pitchFamily="34" charset="-122"/>
                <a:cs typeface="Calibri" pitchFamily="34" charset="-120"/>
              </a:rPr>
              <a:t>Weeks 1–3: Onboard</a:t>
            </a:r>
            <a:endParaRPr lang="en-US" sz="1500" dirty="0"/>
          </a:p>
        </p:txBody>
      </p:sp>
      <p:sp>
        <p:nvSpPr>
          <p:cNvPr id="9" name="Text 6"/>
          <p:cNvSpPr txBox="1"/>
          <p:nvPr/>
        </p:nvSpPr>
        <p:spPr>
          <a:xfrm>
            <a:off x="640080" y="1965960"/>
            <a:ext cx="2240280" cy="169164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QR codes at guardhouses and halls. Train volunteers. Set township configuration pack.</a:t>
            </a:r>
            <a:endParaRPr lang="en-US" sz="1250" dirty="0"/>
          </a:p>
        </p:txBody>
      </p:sp>
      <p:sp>
        <p:nvSpPr>
          <p:cNvPr id="10" name="Shape 7"/>
          <p:cNvSpPr/>
          <p:nvPr/>
        </p:nvSpPr>
        <p:spPr>
          <a:xfrm>
            <a:off x="3268980" y="1371600"/>
            <a:ext cx="2606040" cy="2377440"/>
          </a:xfrm>
          <a:prstGeom prst="roundRect">
            <a:avLst>
              <a:gd name="adj" fmla="val 3846"/>
            </a:avLst>
          </a:prstGeom>
          <a:solidFill>
            <a:srgbClr val="FFFFFF"/>
          </a:solidFill>
          <a:ln w="12700">
            <a:solidFill>
              <a:srgbClr val="DBE3DF"/>
            </a:solidFill>
            <a:prstDash val="solid"/>
          </a:ln>
        </p:spPr>
      </p:sp>
      <p:sp>
        <p:nvSpPr>
          <p:cNvPr id="11" name="Shape 8"/>
          <p:cNvSpPr/>
          <p:nvPr/>
        </p:nvSpPr>
        <p:spPr>
          <a:xfrm>
            <a:off x="3406140" y="1508760"/>
            <a:ext cx="73152" cy="320040"/>
          </a:xfrm>
          <a:prstGeom prst="rect">
            <a:avLst/>
          </a:prstGeom>
          <a:solidFill>
            <a:srgbClr val="0F8A5F"/>
          </a:solidFill>
          <a:ln w="12700">
            <a:solidFill>
              <a:srgbClr val="0F8A5F"/>
            </a:solidFill>
            <a:prstDash val="solid"/>
          </a:ln>
        </p:spPr>
      </p:sp>
      <p:sp>
        <p:nvSpPr>
          <p:cNvPr id="12" name="Text 9"/>
          <p:cNvSpPr txBox="1"/>
          <p:nvPr/>
        </p:nvSpPr>
        <p:spPr>
          <a:xfrm>
            <a:off x="3543300" y="1463040"/>
            <a:ext cx="2194560" cy="411480"/>
          </a:xfrm>
          <a:prstGeom prst="rect">
            <a:avLst/>
          </a:prstGeom>
          <a:noFill/>
          <a:ln/>
        </p:spPr>
        <p:txBody>
          <a:bodyPr wrap="square" lIns="0" tIns="0" rIns="0" bIns="0" rtlCol="0" anchor="ctr"/>
          <a:lstStyle/>
          <a:p>
            <a:pPr indent="0" marL="0">
              <a:buNone/>
            </a:pPr>
            <a:r>
              <a:rPr lang="en-US" sz="1500" b="1" dirty="0">
                <a:solidFill>
                  <a:srgbClr val="0B3D2E"/>
                </a:solidFill>
                <a:latin typeface="Calibri" pitchFamily="34" charset="0"/>
                <a:ea typeface="Calibri" pitchFamily="34" charset="-122"/>
                <a:cs typeface="Calibri" pitchFamily="34" charset="-120"/>
              </a:rPr>
              <a:t>Weeks 4–10: Run live</a:t>
            </a:r>
            <a:endParaRPr lang="en-US" sz="1500" dirty="0"/>
          </a:p>
        </p:txBody>
      </p:sp>
      <p:sp>
        <p:nvSpPr>
          <p:cNvPr id="13" name="Text 10"/>
          <p:cNvSpPr txBox="1"/>
          <p:nvPr/>
        </p:nvSpPr>
        <p:spPr>
          <a:xfrm>
            <a:off x="3451860" y="1965960"/>
            <a:ext cx="2240280" cy="169164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Check-ins and escalation live. Weekly review of alerts and feedback.</a:t>
            </a:r>
            <a:endParaRPr lang="en-US" sz="1250" dirty="0"/>
          </a:p>
        </p:txBody>
      </p:sp>
      <p:sp>
        <p:nvSpPr>
          <p:cNvPr id="14" name="Shape 11"/>
          <p:cNvSpPr/>
          <p:nvPr/>
        </p:nvSpPr>
        <p:spPr>
          <a:xfrm>
            <a:off x="6080760" y="1371600"/>
            <a:ext cx="2606040" cy="2377440"/>
          </a:xfrm>
          <a:prstGeom prst="roundRect">
            <a:avLst>
              <a:gd name="adj" fmla="val 3846"/>
            </a:avLst>
          </a:prstGeom>
          <a:solidFill>
            <a:srgbClr val="FFFFFF"/>
          </a:solidFill>
          <a:ln w="12700">
            <a:solidFill>
              <a:srgbClr val="DBE3DF"/>
            </a:solidFill>
            <a:prstDash val="solid"/>
          </a:ln>
        </p:spPr>
      </p:sp>
      <p:sp>
        <p:nvSpPr>
          <p:cNvPr id="15" name="Shape 12"/>
          <p:cNvSpPr/>
          <p:nvPr/>
        </p:nvSpPr>
        <p:spPr>
          <a:xfrm>
            <a:off x="6217920" y="1508760"/>
            <a:ext cx="73152" cy="320040"/>
          </a:xfrm>
          <a:prstGeom prst="rect">
            <a:avLst/>
          </a:prstGeom>
          <a:solidFill>
            <a:srgbClr val="0F8A5F"/>
          </a:solidFill>
          <a:ln w="12700">
            <a:solidFill>
              <a:srgbClr val="0F8A5F"/>
            </a:solidFill>
            <a:prstDash val="solid"/>
          </a:ln>
        </p:spPr>
      </p:sp>
      <p:sp>
        <p:nvSpPr>
          <p:cNvPr id="16" name="Text 13"/>
          <p:cNvSpPr txBox="1"/>
          <p:nvPr/>
        </p:nvSpPr>
        <p:spPr>
          <a:xfrm>
            <a:off x="6355080" y="1463040"/>
            <a:ext cx="2194560" cy="411480"/>
          </a:xfrm>
          <a:prstGeom prst="rect">
            <a:avLst/>
          </a:prstGeom>
          <a:noFill/>
          <a:ln/>
        </p:spPr>
        <p:txBody>
          <a:bodyPr wrap="square" lIns="0" tIns="0" rIns="0" bIns="0" rtlCol="0" anchor="ctr"/>
          <a:lstStyle/>
          <a:p>
            <a:pPr indent="0" marL="0">
              <a:buNone/>
            </a:pPr>
            <a:r>
              <a:rPr lang="en-US" sz="1500" b="1" dirty="0">
                <a:solidFill>
                  <a:srgbClr val="0B3D2E"/>
                </a:solidFill>
                <a:latin typeface="Calibri" pitchFamily="34" charset="0"/>
                <a:ea typeface="Calibri" pitchFamily="34" charset="-122"/>
                <a:cs typeface="Calibri" pitchFamily="34" charset="-120"/>
              </a:rPr>
              <a:t>Weeks 11–12: Evaluate</a:t>
            </a:r>
            <a:endParaRPr lang="en-US" sz="1500" dirty="0"/>
          </a:p>
        </p:txBody>
      </p:sp>
      <p:sp>
        <p:nvSpPr>
          <p:cNvPr id="17" name="Text 14"/>
          <p:cNvSpPr txBox="1"/>
          <p:nvPr/>
        </p:nvSpPr>
        <p:spPr>
          <a:xfrm>
            <a:off x="6263640" y="1965960"/>
            <a:ext cx="2240280" cy="1691640"/>
          </a:xfrm>
          <a:prstGeom prst="rect">
            <a:avLst/>
          </a:prstGeom>
          <a:noFill/>
          <a:ln/>
        </p:spPr>
        <p:txBody>
          <a:bodyPr wrap="square" lIns="0" tIns="0" rIns="0" bIns="0" rtlCol="0" anchor="t"/>
          <a:lstStyle/>
          <a:p>
            <a:pPr indent="0" marL="0">
              <a:buNone/>
            </a:pPr>
            <a:r>
              <a:rPr lang="en-US" sz="1250" dirty="0">
                <a:solidFill>
                  <a:srgbClr val="14211C"/>
                </a:solidFill>
                <a:latin typeface="Calibri" pitchFamily="34" charset="0"/>
                <a:ea typeface="Calibri" pitchFamily="34" charset="-122"/>
                <a:cs typeface="Calibri" pitchFamily="34" charset="-120"/>
              </a:rPr>
              <a:t>Measure response time, participation, loneliness. Report to Sime Darby Property.</a:t>
            </a:r>
            <a:endParaRPr lang="en-US" sz="1250" dirty="0"/>
          </a:p>
        </p:txBody>
      </p:sp>
      <p:sp>
        <p:nvSpPr>
          <p:cNvPr id="18" name="Text 15"/>
          <p:cNvSpPr txBox="1"/>
          <p:nvPr/>
        </p:nvSpPr>
        <p:spPr>
          <a:xfrm>
            <a:off x="457200" y="3977640"/>
            <a:ext cx="8229600" cy="640080"/>
          </a:xfrm>
          <a:prstGeom prst="rect">
            <a:avLst/>
          </a:prstGeom>
          <a:noFill/>
          <a:ln/>
        </p:spPr>
        <p:txBody>
          <a:bodyPr wrap="square" lIns="0" tIns="0" rIns="0" bIns="0" rtlCol="0" anchor="ctr"/>
          <a:lstStyle/>
          <a:p>
            <a:pPr indent="0" marL="0">
              <a:buNone/>
            </a:pPr>
            <a:r>
              <a:rPr lang="en-US" sz="1400" dirty="0">
                <a:solidFill>
                  <a:srgbClr val="14211C"/>
                </a:solidFill>
                <a:latin typeface="Calibri" pitchFamily="34" charset="0"/>
                <a:ea typeface="Calibri" pitchFamily="34" charset="-122"/>
                <a:cs typeface="Calibri" pitchFamily="34" charset="-120"/>
              </a:rPr>
              <a:t>Scale: bundle into township management services; clinic and pharmacy partners as optional revenue. Next build step: working Telegram bot.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7"/>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libri" pitchFamily="34" charset="0"/>
                <a:ea typeface="Calibri" pitchFamily="34" charset="-122"/>
                <a:cs typeface="Calibri" pitchFamily="34" charset="-120"/>
              </a:rPr>
              <a:t>Why Our Team Should Win</a:t>
            </a:r>
            <a:endParaRPr lang="en-US" sz="2800" dirty="0"/>
          </a:p>
        </p:txBody>
      </p:sp>
      <p:sp>
        <p:nvSpPr>
          <p:cNvPr id="4" name="Text 1"/>
          <p:cNvSpPr txBox="1"/>
          <p:nvPr/>
        </p:nvSpPr>
        <p:spPr>
          <a:xfrm>
            <a:off x="457200" y="4828032"/>
            <a:ext cx="2743200" cy="201168"/>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sp>
        <p:nvSpPr>
          <p:cNvPr id="5" name="Text 2"/>
          <p:cNvSpPr txBox="1"/>
          <p:nvPr/>
        </p:nvSpPr>
        <p:spPr>
          <a:xfrm>
            <a:off x="457200" y="1097280"/>
            <a:ext cx="8229600" cy="3291840"/>
          </a:xfrm>
          <a:prstGeom prst="rect">
            <a:avLst/>
          </a:prstGeom>
          <a:noFill/>
          <a:ln/>
        </p:spPr>
        <p:txBody>
          <a:bodyPr wrap="square" lIns="0" tIns="0" rIns="0" bIns="0" rtlCol="0" anchor="t"/>
          <a:lstStyle/>
          <a:p>
            <a:pPr indent="0" marL="0">
              <a:lnSpc>
                <a:spcPct val="115000"/>
              </a:lnSpc>
              <a:buNone/>
            </a:pPr>
            <a:r>
              <a:rPr lang="en-US" sz="1800" dirty="0">
                <a:solidFill>
                  <a:srgbClr val="14211C"/>
                </a:solidFill>
                <a:latin typeface="Calibri" pitchFamily="34" charset="0"/>
                <a:ea typeface="Calibri" pitchFamily="34" charset="-122"/>
                <a:cs typeface="Calibri" pitchFamily="34" charset="-120"/>
              </a:rPr>
              <a:t>SikLemau turns a township into a health system. Instead of another passive app, it checks on residents, escalates when something is wrong, and connects neighbours through shared health goals. It is practical: it uses existing guardhouse staff, free tools and a configuration pack for each township. It is safe and private by design, and gives Sime Darby Property anonymised insights to place shade, lighting and programmes where residents need them. Our prototype demonstrates the full journey, and our pilot plan is ready to start.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7"/>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0B3D2E"/>
                </a:solidFill>
                <a:latin typeface="Calibri" pitchFamily="34" charset="0"/>
                <a:ea typeface="Calibri" pitchFamily="34" charset="-122"/>
                <a:cs typeface="Calibri" pitchFamily="34" charset="-120"/>
              </a:rPr>
              <a:t>Appendix: Visual Concept (prototype screens)</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B6B64"/>
                </a:solidFill>
                <a:latin typeface="Calibri" pitchFamily="34" charset="0"/>
                <a:ea typeface="Calibri" pitchFamily="34" charset="-122"/>
                <a:cs typeface="Calibri" pitchFamily="34" charset="-120"/>
              </a:rPr>
              <a:t>Demo screens: sample inputs and outputs only, not a limit on what the real agent can do</a:t>
            </a:r>
            <a:endParaRPr lang="en-US" sz="1400" dirty="0"/>
          </a:p>
        </p:txBody>
      </p:sp>
      <p:sp>
        <p:nvSpPr>
          <p:cNvPr id="5" name="Text 2"/>
          <p:cNvSpPr txBox="1"/>
          <p:nvPr/>
        </p:nvSpPr>
        <p:spPr>
          <a:xfrm>
            <a:off x="457200" y="4828032"/>
            <a:ext cx="2743200" cy="201168"/>
          </a:xfrm>
          <a:prstGeom prst="rect">
            <a:avLst/>
          </a:prstGeom>
          <a:noFill/>
          <a:ln/>
        </p:spPr>
        <p:txBody>
          <a:bodyPr wrap="square" lIns="0" tIns="0" rIns="0" bIns="0" rtlCol="0" anchor="ctr"/>
          <a:lstStyle/>
          <a:p>
            <a:pPr indent="0" marL="0">
              <a:buNone/>
            </a:pPr>
            <a:r>
              <a:rPr lang="en-US" sz="1000" dirty="0">
                <a:solidFill>
                  <a:srgbClr val="5B6B64"/>
                </a:solidFill>
                <a:latin typeface="Calibri" pitchFamily="34" charset="0"/>
                <a:ea typeface="Calibri" pitchFamily="34" charset="-122"/>
                <a:cs typeface="Calibri" pitchFamily="34" charset="-120"/>
              </a:rPr>
              <a:t>SikLemau</a:t>
            </a:r>
            <a:endParaRPr lang="en-US" sz="1000" dirty="0"/>
          </a:p>
        </p:txBody>
      </p:sp>
      <p:pic>
        <p:nvPicPr>
          <p:cNvPr id="6" name="Image 0" descr="s1.png">    </p:cNvPr>
          <p:cNvPicPr>
            <a:picLocks noChangeAspect="1"/>
          </p:cNvPicPr>
          <p:nvPr/>
        </p:nvPicPr>
        <p:blipFill>
          <a:blip r:embed="rId1"/>
          <a:stretch>
            <a:fillRect/>
          </a:stretch>
        </p:blipFill>
        <p:spPr>
          <a:xfrm>
            <a:off x="1097280" y="1188720"/>
            <a:ext cx="2743200" cy="1746504"/>
          </a:xfrm>
          <a:prstGeom prst="rect">
            <a:avLst/>
          </a:prstGeom>
        </p:spPr>
      </p:pic>
      <p:pic>
        <p:nvPicPr>
          <p:cNvPr id="7" name="Image 1" descr="s2.png">    </p:cNvPr>
          <p:cNvPicPr>
            <a:picLocks noChangeAspect="1"/>
          </p:cNvPicPr>
          <p:nvPr/>
        </p:nvPicPr>
        <p:blipFill>
          <a:blip r:embed="rId2"/>
          <a:stretch>
            <a:fillRect/>
          </a:stretch>
        </p:blipFill>
        <p:spPr>
          <a:xfrm>
            <a:off x="4846320" y="1188720"/>
            <a:ext cx="2743200" cy="1746504"/>
          </a:xfrm>
          <a:prstGeom prst="rect">
            <a:avLst/>
          </a:prstGeom>
        </p:spPr>
      </p:pic>
      <p:pic>
        <p:nvPicPr>
          <p:cNvPr id="8" name="Image 2" descr="s3.png">    </p:cNvPr>
          <p:cNvPicPr>
            <a:picLocks noChangeAspect="1"/>
          </p:cNvPicPr>
          <p:nvPr/>
        </p:nvPicPr>
        <p:blipFill>
          <a:blip r:embed="rId3"/>
          <a:stretch>
            <a:fillRect/>
          </a:stretch>
        </p:blipFill>
        <p:spPr>
          <a:xfrm>
            <a:off x="1097280" y="3017520"/>
            <a:ext cx="2743200" cy="1746504"/>
          </a:xfrm>
          <a:prstGeom prst="rect">
            <a:avLst/>
          </a:prstGeom>
        </p:spPr>
      </p:pic>
      <p:pic>
        <p:nvPicPr>
          <p:cNvPr id="9" name="Image 3" descr="s4.png">    </p:cNvPr>
          <p:cNvPicPr>
            <a:picLocks noChangeAspect="1"/>
          </p:cNvPicPr>
          <p:nvPr/>
        </p:nvPicPr>
        <p:blipFill>
          <a:blip r:embed="rId4"/>
          <a:stretch>
            <a:fillRect/>
          </a:stretch>
        </p:blipFill>
        <p:spPr>
          <a:xfrm>
            <a:off x="4846320" y="3017520"/>
            <a:ext cx="2743200" cy="17465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SikLemau - Township Health Agent</dc:title>
  <dc:subject>PptxGenJS Presentation</dc:subject>
  <dc:creator>PptxGenJS</dc:creator>
  <cp:lastModifiedBy>PptxGenJS</cp:lastModifiedBy>
  <cp:revision>1</cp:revision>
  <dcterms:created xsi:type="dcterms:W3CDTF">2026-10-23T07:21:45Z</dcterms:created>
  <dcterms:modified xsi:type="dcterms:W3CDTF">2026-10-23T07:21:45Z</dcterms:modified>
</cp:coreProperties>
</file>